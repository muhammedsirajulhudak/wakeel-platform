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640080"/>
            <a:ext cx="502920" cy="502920"/>
          </a:xfrm>
          <a:prstGeom prst="roundRect">
            <a:avLst>
              <a:gd name="adj" fmla="val 28000"/>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640080"/>
            <a:ext cx="64008" cy="502920"/>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40080"/>
            <a:ext cx="502920" cy="502920"/>
          </a:xfrm>
          <a:prstGeom prst="rect">
            <a:avLst/>
          </a:prstGeom>
          <a:noFill/>
        </p:spPr>
        <p:txBody>
          <a:bodyPr wrap="square" anchor="ctr" lIns="0" rIns="0" tIns="0" bIns="0">
            <a:spAutoFit/>
          </a:bodyPr>
          <a:lstStyle/>
          <a:p>
            <a:pPr algn="ctr">
              <a:lnSpc>
                <a:spcPct val="105000"/>
              </a:lnSpc>
              <a:spcBef>
                <a:spcPts val="0"/>
              </a:spcBef>
              <a:spcAft>
                <a:spcPts val="0"/>
              </a:spcAft>
            </a:pPr>
            <a:r>
              <a:rPr sz="1800" b="1">
                <a:solidFill>
                  <a:srgbClr val="FFFFFF"/>
                </a:solidFill>
                <a:latin typeface="Segoe UI"/>
              </a:rPr>
              <a:t>و</a:t>
            </a:r>
          </a:p>
        </p:txBody>
      </p:sp>
      <p:sp>
        <p:nvSpPr>
          <p:cNvPr id="10" name="TextBox 9"/>
          <p:cNvSpPr txBox="1"/>
          <p:nvPr/>
        </p:nvSpPr>
        <p:spPr>
          <a:xfrm>
            <a:off x="1325880" y="658368"/>
            <a:ext cx="5486400" cy="457200"/>
          </a:xfrm>
          <a:prstGeom prst="rect">
            <a:avLst/>
          </a:prstGeom>
          <a:noFill/>
        </p:spPr>
        <p:txBody>
          <a:bodyPr wrap="square" anchor="ctr" lIns="0" rIns="0" tIns="0" bIns="0">
            <a:spAutoFit/>
          </a:bodyPr>
          <a:lstStyle/>
          <a:p>
            <a:pPr algn="l">
              <a:lnSpc>
                <a:spcPct val="105000"/>
              </a:lnSpc>
              <a:spcBef>
                <a:spcPts val="0"/>
              </a:spcBef>
              <a:spcAft>
                <a:spcPts val="0"/>
              </a:spcAft>
            </a:pPr>
            <a:r>
              <a:rPr sz="1700" b="1">
                <a:solidFill>
                  <a:srgbClr val="EFF3F7"/>
                </a:solidFill>
                <a:latin typeface="Segoe UI"/>
              </a:rPr>
              <a:t>Wakeel </a:t>
            </a:r>
            <a:r>
              <a:rPr sz="1500" b="0">
                <a:solidFill>
                  <a:srgbClr val="66727F"/>
                </a:solidFill>
                <a:latin typeface="Segoe UI"/>
              </a:rPr>
              <a:t>وكيل</a:t>
            </a:r>
          </a:p>
        </p:txBody>
      </p:sp>
      <p:sp>
        <p:nvSpPr>
          <p:cNvPr id="11" name="TextBox 10"/>
          <p:cNvSpPr txBox="1"/>
          <p:nvPr/>
        </p:nvSpPr>
        <p:spPr>
          <a:xfrm>
            <a:off x="6583680" y="658368"/>
            <a:ext cx="4937760" cy="457200"/>
          </a:xfrm>
          <a:prstGeom prst="rect">
            <a:avLst/>
          </a:prstGeom>
          <a:noFill/>
        </p:spPr>
        <p:txBody>
          <a:bodyPr wrap="square" anchor="ctr" lIns="0" rIns="0" tIns="0" bIns="0">
            <a:spAutoFit/>
          </a:bodyPr>
          <a:lstStyle/>
          <a:p>
            <a:pPr algn="r">
              <a:lnSpc>
                <a:spcPct val="105000"/>
              </a:lnSpc>
              <a:spcBef>
                <a:spcPts val="0"/>
              </a:spcBef>
              <a:spcAft>
                <a:spcPts val="0"/>
              </a:spcAft>
            </a:pPr>
            <a:r>
              <a:rPr sz="1250" b="0">
                <a:solidFill>
                  <a:srgbClr val="66727F"/>
                </a:solidFill>
                <a:latin typeface="Segoe UI"/>
              </a:rPr>
              <a:t>Agentic platform for UAE Government</a:t>
            </a:r>
          </a:p>
        </p:txBody>
      </p:sp>
      <p:sp>
        <p:nvSpPr>
          <p:cNvPr id="12" name="TextBox 11"/>
          <p:cNvSpPr txBox="1"/>
          <p:nvPr/>
        </p:nvSpPr>
        <p:spPr>
          <a:xfrm>
            <a:off x="713232" y="2148840"/>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1150" b="1" spc="180">
                <a:solidFill>
                  <a:srgbClr val="12B76A"/>
                </a:solidFill>
                <a:latin typeface="Segoe UI"/>
              </a:rPr>
              <a:t>MINISTRY OF HUMAN RESOURCES &amp; EMIRATISATION · STORY WALKTHROUGH</a:t>
            </a:r>
          </a:p>
        </p:txBody>
      </p:sp>
      <p:sp>
        <p:nvSpPr>
          <p:cNvPr id="13" name="TextBox 12"/>
          <p:cNvSpPr txBox="1"/>
          <p:nvPr/>
        </p:nvSpPr>
        <p:spPr>
          <a:xfrm>
            <a:off x="658368" y="2514600"/>
            <a:ext cx="10789920" cy="2377440"/>
          </a:xfrm>
          <a:prstGeom prst="rect">
            <a:avLst/>
          </a:prstGeom>
          <a:noFill/>
        </p:spPr>
        <p:txBody>
          <a:bodyPr wrap="square" anchor="t" lIns="0" rIns="0" tIns="0" bIns="0">
            <a:spAutoFit/>
          </a:bodyPr>
          <a:lstStyle/>
          <a:p>
            <a:pPr algn="l">
              <a:lnSpc>
                <a:spcPct val="102000"/>
              </a:lnSpc>
              <a:spcBef>
                <a:spcPts val="0"/>
              </a:spcBef>
              <a:spcAft>
                <a:spcPts val="200"/>
              </a:spcAft>
            </a:pPr>
            <a:r>
              <a:rPr sz="4200" b="1">
                <a:solidFill>
                  <a:srgbClr val="EFF3F7"/>
                </a:solidFill>
                <a:latin typeface="Segoe UI"/>
              </a:rPr>
              <a:t>The MoHRE </a:t>
            </a:r>
            <a:r>
              <a:rPr sz="4200" b="1">
                <a:solidFill>
                  <a:srgbClr val="12B76A"/>
                </a:solidFill>
                <a:latin typeface="Segoe UI"/>
              </a:rPr>
              <a:t>Emiratization Compliance</a:t>
            </a:r>
            <a:r>
              <a:rPr sz="4200" b="1">
                <a:solidFill>
                  <a:srgbClr val="EFF3F7"/>
                </a:solidFill>
                <a:latin typeface="Segoe UI"/>
              </a:rPr>
              <a:t> Agent —</a:t>
            </a:r>
          </a:p>
          <a:p>
            <a:pPr algn="l">
              <a:lnSpc>
                <a:spcPct val="102000"/>
              </a:lnSpc>
              <a:spcBef>
                <a:spcPts val="0"/>
              </a:spcBef>
              <a:spcAft>
                <a:spcPts val="200"/>
              </a:spcAft>
            </a:pPr>
            <a:r>
              <a:rPr sz="4200" b="1">
                <a:solidFill>
                  <a:srgbClr val="EFF3F7"/>
                </a:solidFill>
                <a:latin typeface="Segoe UI"/>
              </a:rPr>
              <a:t>built and run on Wakeel.</a:t>
            </a:r>
          </a:p>
        </p:txBody>
      </p:sp>
      <p:sp>
        <p:nvSpPr>
          <p:cNvPr id="14" name="TextBox 13"/>
          <p:cNvSpPr txBox="1"/>
          <p:nvPr/>
        </p:nvSpPr>
        <p:spPr>
          <a:xfrm>
            <a:off x="713232" y="4480560"/>
            <a:ext cx="8778240" cy="1097280"/>
          </a:xfrm>
          <a:prstGeom prst="rect">
            <a:avLst/>
          </a:prstGeom>
          <a:noFill/>
        </p:spPr>
        <p:txBody>
          <a:bodyPr wrap="square" anchor="t" lIns="0" rIns="0" tIns="0" bIns="0">
            <a:spAutoFit/>
          </a:bodyPr>
          <a:lstStyle/>
          <a:p>
            <a:pPr algn="l">
              <a:lnSpc>
                <a:spcPct val="120000"/>
              </a:lnSpc>
              <a:spcBef>
                <a:spcPts val="0"/>
              </a:spcBef>
              <a:spcAft>
                <a:spcPts val="200"/>
              </a:spcAft>
            </a:pPr>
            <a:r>
              <a:rPr sz="1600" b="0">
                <a:solidFill>
                  <a:srgbClr val="9AA7B6"/>
                </a:solidFill>
                <a:latin typeface="Segoe UI"/>
              </a:rPr>
              <a:t>One officer, one description in plain language, and a governed Microsoft 365 agent that </a:t>
            </a:r>
          </a:p>
          <a:p>
            <a:pPr algn="l">
              <a:lnSpc>
                <a:spcPct val="120000"/>
              </a:lnSpc>
              <a:spcBef>
                <a:spcPts val="0"/>
              </a:spcBef>
              <a:spcAft>
                <a:spcPts val="200"/>
              </a:spcAft>
            </a:pPr>
            <a:r>
              <a:rPr sz="1600" b="0">
                <a:solidFill>
                  <a:srgbClr val="9AA7B6"/>
                </a:solidFill>
                <a:latin typeface="Segoe UI"/>
              </a:rPr>
              <a:t>chases business compliance every day — while people keep every decision.</a:t>
            </a:r>
          </a:p>
        </p:txBody>
      </p:sp>
      <p:sp>
        <p:nvSpPr>
          <p:cNvPr id="15" name="Rounded Rectangle 14"/>
          <p:cNvSpPr/>
          <p:nvPr/>
        </p:nvSpPr>
        <p:spPr>
          <a:xfrm>
            <a:off x="713232" y="5577840"/>
            <a:ext cx="2057400" cy="420624"/>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577840"/>
            <a:ext cx="2057400" cy="420624"/>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 Microsoft 365 only</a:t>
            </a:r>
          </a:p>
        </p:txBody>
      </p:sp>
      <p:sp>
        <p:nvSpPr>
          <p:cNvPr id="17" name="Rounded Rectangle 16"/>
          <p:cNvSpPr/>
          <p:nvPr/>
        </p:nvSpPr>
        <p:spPr>
          <a:xfrm>
            <a:off x="2935224" y="5577840"/>
            <a:ext cx="2135124" cy="420624"/>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35224" y="5577840"/>
            <a:ext cx="2135124" cy="420624"/>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 Daily + manual runs</a:t>
            </a:r>
          </a:p>
        </p:txBody>
      </p:sp>
      <p:sp>
        <p:nvSpPr>
          <p:cNvPr id="19" name="Rounded Rectangle 18"/>
          <p:cNvSpPr/>
          <p:nvPr/>
        </p:nvSpPr>
        <p:spPr>
          <a:xfrm>
            <a:off x="5234940" y="5577840"/>
            <a:ext cx="2212848" cy="420624"/>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4940" y="5577840"/>
            <a:ext cx="2212848" cy="420624"/>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 Governed &amp; auditable</a:t>
            </a:r>
          </a:p>
        </p:txBody>
      </p:sp>
      <p:sp>
        <p:nvSpPr>
          <p:cNvPr id="21" name="Rounded Rectangle 20"/>
          <p:cNvSpPr/>
          <p:nvPr/>
        </p:nvSpPr>
        <p:spPr>
          <a:xfrm>
            <a:off x="7612380" y="5577840"/>
            <a:ext cx="1901952" cy="420624"/>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12380" y="5577840"/>
            <a:ext cx="1901952" cy="420624"/>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 Arabic / English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640080"/>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1150" b="1" spc="180">
                <a:solidFill>
                  <a:srgbClr val="12B76A"/>
                </a:solidFill>
                <a:latin typeface="Segoe UI"/>
              </a:rPr>
              <a:t>THE PROBLEM MOHRE DESCRIBED</a:t>
            </a:r>
          </a:p>
        </p:txBody>
      </p:sp>
      <p:sp>
        <p:nvSpPr>
          <p:cNvPr id="8" name="TextBox 7"/>
          <p:cNvSpPr txBox="1"/>
          <p:nvPr/>
        </p:nvSpPr>
        <p:spPr>
          <a:xfrm>
            <a:off x="658368" y="960120"/>
            <a:ext cx="10789920" cy="914400"/>
          </a:xfrm>
          <a:prstGeom prst="rect">
            <a:avLst/>
          </a:prstGeom>
          <a:noFill/>
        </p:spPr>
        <p:txBody>
          <a:bodyPr wrap="square" anchor="t" lIns="0" rIns="0" tIns="0" bIns="0">
            <a:spAutoFit/>
          </a:bodyPr>
          <a:lstStyle/>
          <a:p>
            <a:pPr algn="l">
              <a:lnSpc>
                <a:spcPct val="105000"/>
              </a:lnSpc>
              <a:spcBef>
                <a:spcPts val="0"/>
              </a:spcBef>
              <a:spcAft>
                <a:spcPts val="0"/>
              </a:spcAft>
            </a:pPr>
            <a:r>
              <a:rPr sz="3000" b="1">
                <a:solidFill>
                  <a:srgbClr val="EFF3F7"/>
                </a:solidFill>
                <a:latin typeface="Segoe UI"/>
              </a:rPr>
              <a:t>Emiratization outreach is real work, done by hand.</a:t>
            </a:r>
          </a:p>
        </p:txBody>
      </p:sp>
      <p:sp>
        <p:nvSpPr>
          <p:cNvPr id="9" name="TextBox 8"/>
          <p:cNvSpPr txBox="1"/>
          <p:nvPr/>
        </p:nvSpPr>
        <p:spPr>
          <a:xfrm>
            <a:off x="713232" y="1783080"/>
            <a:ext cx="10607040" cy="1371600"/>
          </a:xfrm>
          <a:prstGeom prst="rect">
            <a:avLst/>
          </a:prstGeom>
          <a:noFill/>
        </p:spPr>
        <p:txBody>
          <a:bodyPr wrap="square" anchor="t" lIns="0" rIns="0" tIns="0" bIns="0">
            <a:spAutoFit/>
          </a:bodyPr>
          <a:lstStyle/>
          <a:p>
            <a:pPr algn="l">
              <a:lnSpc>
                <a:spcPct val="125000"/>
              </a:lnSpc>
              <a:spcBef>
                <a:spcPts val="0"/>
              </a:spcBef>
              <a:spcAft>
                <a:spcPts val="0"/>
              </a:spcAft>
            </a:pPr>
            <a:r>
              <a:rPr sz="1550" b="0">
                <a:solidFill>
                  <a:srgbClr val="9AA7B6"/>
                </a:solidFill>
                <a:latin typeface="Segoe UI"/>
              </a:rPr>
              <a:t>Officers track hundreds of businesses in a spreadsheet, email each one for its compliance report, wait for replies, check the answers against policy, chase the late ones, and escalate the hard cases. It is slow, repetitive, and easy to let slip — but every judgement still has to be a person's.</a:t>
            </a:r>
          </a:p>
        </p:txBody>
      </p:sp>
      <p:sp>
        <p:nvSpPr>
          <p:cNvPr id="10" name="Rounded Rectangle 9"/>
          <p:cNvSpPr/>
          <p:nvPr/>
        </p:nvSpPr>
        <p:spPr>
          <a:xfrm>
            <a:off x="713232" y="3657600"/>
            <a:ext cx="3493008" cy="219456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913632"/>
            <a:ext cx="2980944" cy="1737360"/>
          </a:xfrm>
          <a:prstGeom prst="rect">
            <a:avLst/>
          </a:prstGeom>
          <a:noFill/>
        </p:spPr>
        <p:txBody>
          <a:bodyPr wrap="square" anchor="t" lIns="0" rIns="0" tIns="0" bIns="0">
            <a:spAutoFit/>
          </a:bodyPr>
          <a:lstStyle/>
          <a:p>
            <a:pPr algn="l">
              <a:lnSpc>
                <a:spcPct val="115000"/>
              </a:lnSpc>
              <a:spcBef>
                <a:spcPts val="0"/>
              </a:spcBef>
              <a:spcAft>
                <a:spcPts val="800"/>
              </a:spcAft>
            </a:pPr>
            <a:r>
              <a:rPr sz="1100" b="1" spc="120">
                <a:solidFill>
                  <a:srgbClr val="66727F"/>
                </a:solidFill>
                <a:latin typeface="Segoe UI"/>
              </a:rPr>
              <a:t>THE REGISTRY</a:t>
            </a:r>
          </a:p>
          <a:p>
            <a:pPr algn="l">
              <a:lnSpc>
                <a:spcPct val="115000"/>
              </a:lnSpc>
              <a:spcBef>
                <a:spcPts val="0"/>
              </a:spcBef>
              <a:spcAft>
                <a:spcPts val="800"/>
              </a:spcAft>
            </a:pPr>
            <a:r>
              <a:rPr sz="1700" b="1">
                <a:solidFill>
                  <a:srgbClr val="EFF3F7"/>
                </a:solidFill>
                <a:latin typeface="Segoe UI"/>
              </a:rPr>
              <a:t>Excel on SharePoint</a:t>
            </a:r>
          </a:p>
          <a:p>
            <a:pPr algn="l">
              <a:lnSpc>
                <a:spcPct val="115000"/>
              </a:lnSpc>
              <a:spcBef>
                <a:spcPts val="0"/>
              </a:spcBef>
              <a:spcAft>
                <a:spcPts val="800"/>
              </a:spcAft>
            </a:pPr>
            <a:r>
              <a:rPr sz="1300" b="0">
                <a:solidFill>
                  <a:srgbClr val="9AA7B6"/>
                </a:solidFill>
                <a:latin typeface="Segoe UI"/>
              </a:rPr>
              <a:t>Business name, contact, sector, compliance status, dates, assigned officer, notes, next action.</a:t>
            </a:r>
          </a:p>
        </p:txBody>
      </p:sp>
      <p:sp>
        <p:nvSpPr>
          <p:cNvPr id="12" name="Rounded Rectangle 11"/>
          <p:cNvSpPr/>
          <p:nvPr/>
        </p:nvSpPr>
        <p:spPr>
          <a:xfrm>
            <a:off x="4498848" y="3657600"/>
            <a:ext cx="3493008" cy="219456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3913632"/>
            <a:ext cx="2980944" cy="1737360"/>
          </a:xfrm>
          <a:prstGeom prst="rect">
            <a:avLst/>
          </a:prstGeom>
          <a:noFill/>
        </p:spPr>
        <p:txBody>
          <a:bodyPr wrap="square" anchor="t" lIns="0" rIns="0" tIns="0" bIns="0">
            <a:spAutoFit/>
          </a:bodyPr>
          <a:lstStyle/>
          <a:p>
            <a:pPr algn="l">
              <a:lnSpc>
                <a:spcPct val="115000"/>
              </a:lnSpc>
              <a:spcBef>
                <a:spcPts val="0"/>
              </a:spcBef>
              <a:spcAft>
                <a:spcPts val="800"/>
              </a:spcAft>
            </a:pPr>
            <a:r>
              <a:rPr sz="1100" b="1" spc="120">
                <a:solidFill>
                  <a:srgbClr val="66727F"/>
                </a:solidFill>
                <a:latin typeface="Segoe UI"/>
              </a:rPr>
              <a:t>THE OUTREACH</a:t>
            </a:r>
          </a:p>
          <a:p>
            <a:pPr algn="l">
              <a:lnSpc>
                <a:spcPct val="115000"/>
              </a:lnSpc>
              <a:spcBef>
                <a:spcPts val="0"/>
              </a:spcBef>
              <a:spcAft>
                <a:spcPts val="800"/>
              </a:spcAft>
            </a:pPr>
            <a:r>
              <a:rPr sz="1700" b="1">
                <a:solidFill>
                  <a:srgbClr val="EFF3F7"/>
                </a:solidFill>
                <a:latin typeface="Segoe UI"/>
              </a:rPr>
              <a:t>Microsoft Outlook</a:t>
            </a:r>
          </a:p>
          <a:p>
            <a:pPr algn="l">
              <a:lnSpc>
                <a:spcPct val="115000"/>
              </a:lnSpc>
              <a:spcBef>
                <a:spcPts val="0"/>
              </a:spcBef>
              <a:spcAft>
                <a:spcPts val="800"/>
              </a:spcAft>
            </a:pPr>
            <a:r>
              <a:rPr sz="1300" b="0">
                <a:solidFill>
                  <a:srgbClr val="9AA7B6"/>
                </a:solidFill>
                <a:latin typeface="Segoe UI"/>
              </a:rPr>
              <a:t>Report requests, reminders, escalations and the daily officer summary.</a:t>
            </a:r>
          </a:p>
        </p:txBody>
      </p:sp>
      <p:sp>
        <p:nvSpPr>
          <p:cNvPr id="14" name="Rounded Rectangle 13"/>
          <p:cNvSpPr/>
          <p:nvPr/>
        </p:nvSpPr>
        <p:spPr>
          <a:xfrm>
            <a:off x="8284464" y="3657600"/>
            <a:ext cx="3493008" cy="219456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6" y="3913632"/>
            <a:ext cx="2980944" cy="1737360"/>
          </a:xfrm>
          <a:prstGeom prst="rect">
            <a:avLst/>
          </a:prstGeom>
          <a:noFill/>
        </p:spPr>
        <p:txBody>
          <a:bodyPr wrap="square" anchor="t" lIns="0" rIns="0" tIns="0" bIns="0">
            <a:spAutoFit/>
          </a:bodyPr>
          <a:lstStyle/>
          <a:p>
            <a:pPr algn="l">
              <a:lnSpc>
                <a:spcPct val="115000"/>
              </a:lnSpc>
              <a:spcBef>
                <a:spcPts val="0"/>
              </a:spcBef>
              <a:spcAft>
                <a:spcPts val="800"/>
              </a:spcAft>
            </a:pPr>
            <a:r>
              <a:rPr sz="1100" b="1" spc="120">
                <a:solidFill>
                  <a:srgbClr val="66727F"/>
                </a:solidFill>
                <a:latin typeface="Segoe UI"/>
              </a:rPr>
              <a:t>THE RULEBOOK</a:t>
            </a:r>
          </a:p>
          <a:p>
            <a:pPr algn="l">
              <a:lnSpc>
                <a:spcPct val="115000"/>
              </a:lnSpc>
              <a:spcBef>
                <a:spcPts val="0"/>
              </a:spcBef>
              <a:spcAft>
                <a:spcPts val="800"/>
              </a:spcAft>
            </a:pPr>
            <a:r>
              <a:rPr sz="1700" b="1">
                <a:solidFill>
                  <a:srgbClr val="EFF3F7"/>
                </a:solidFill>
                <a:latin typeface="Segoe UI"/>
              </a:rPr>
              <a:t>SharePoint</a:t>
            </a:r>
          </a:p>
          <a:p>
            <a:pPr algn="l">
              <a:lnSpc>
                <a:spcPct val="115000"/>
              </a:lnSpc>
              <a:spcBef>
                <a:spcPts val="0"/>
              </a:spcBef>
              <a:spcAft>
                <a:spcPts val="800"/>
              </a:spcAft>
            </a:pPr>
            <a:r>
              <a:rPr sz="1300" b="0">
                <a:solidFill>
                  <a:srgbClr val="9AA7B6"/>
                </a:solidFill>
                <a:latin typeface="Segoe UI"/>
              </a:rPr>
              <a:t>SOPs, Emiratization policies, report templates and approved email templates.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6692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1150" b="1" spc="180">
                <a:solidFill>
                  <a:srgbClr val="12B76A"/>
                </a:solidFill>
                <a:latin typeface="Segoe UI"/>
              </a:rPr>
              <a:t>THE REQUEST — EXACTLY AS THE OFFICER TYPED IT</a:t>
            </a:r>
          </a:p>
        </p:txBody>
      </p:sp>
      <p:sp>
        <p:nvSpPr>
          <p:cNvPr id="8" name="TextBox 7"/>
          <p:cNvSpPr txBox="1"/>
          <p:nvPr/>
        </p:nvSpPr>
        <p:spPr>
          <a:xfrm>
            <a:off x="658368" y="886968"/>
            <a:ext cx="10789920" cy="640080"/>
          </a:xfrm>
          <a:prstGeom prst="rect">
            <a:avLst/>
          </a:prstGeom>
          <a:noFill/>
        </p:spPr>
        <p:txBody>
          <a:bodyPr wrap="square" anchor="t" lIns="0" rIns="0" tIns="0" bIns="0">
            <a:spAutoFit/>
          </a:bodyPr>
          <a:lstStyle/>
          <a:p>
            <a:pPr algn="l">
              <a:lnSpc>
                <a:spcPct val="105000"/>
              </a:lnSpc>
              <a:spcBef>
                <a:spcPts val="0"/>
              </a:spcBef>
              <a:spcAft>
                <a:spcPts val="0"/>
              </a:spcAft>
            </a:pPr>
            <a:r>
              <a:rPr sz="2700" b="1">
                <a:solidFill>
                  <a:srgbClr val="EFF3F7"/>
                </a:solidFill>
                <a:latin typeface="Segoe UI"/>
              </a:rPr>
              <a:t>No forms. No code. Just describe the job.</a:t>
            </a:r>
          </a:p>
        </p:txBody>
      </p:sp>
      <p:sp>
        <p:nvSpPr>
          <p:cNvPr id="9" name="Rounded Rectangle 8"/>
          <p:cNvSpPr/>
          <p:nvPr/>
        </p:nvSpPr>
        <p:spPr>
          <a:xfrm>
            <a:off x="713232" y="1627632"/>
            <a:ext cx="10762488" cy="4846320"/>
          </a:xfrm>
          <a:prstGeom prst="roundRect">
            <a:avLst>
              <a:gd name="adj" fmla="val 6000"/>
            </a:avLst>
          </a:prstGeom>
          <a:solidFill>
            <a:srgbClr val="0B121B"/>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20" y="1828800"/>
            <a:ext cx="109728" cy="109728"/>
          </a:xfrm>
          <a:prstGeom prst="roundRect">
            <a:avLst>
              <a:gd name="adj" fmla="val 6000"/>
            </a:avLst>
          </a:prstGeom>
          <a:solidFill>
            <a:srgbClr val="394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61288" y="1828800"/>
            <a:ext cx="109728" cy="109728"/>
          </a:xfrm>
          <a:prstGeom prst="roundRect">
            <a:avLst>
              <a:gd name="adj" fmla="val 6000"/>
            </a:avLst>
          </a:prstGeom>
          <a:solidFill>
            <a:srgbClr val="394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362456" y="1828800"/>
            <a:ext cx="109728" cy="109728"/>
          </a:xfrm>
          <a:prstGeom prst="roundRect">
            <a:avLst>
              <a:gd name="adj" fmla="val 6000"/>
            </a:avLst>
          </a:prstGeom>
          <a:solidFill>
            <a:srgbClr val="3940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55064" y="1792224"/>
            <a:ext cx="3657600" cy="228600"/>
          </a:xfrm>
          <a:prstGeom prst="rect">
            <a:avLst/>
          </a:prstGeom>
          <a:noFill/>
        </p:spPr>
        <p:txBody>
          <a:bodyPr wrap="square" anchor="t" lIns="0" rIns="0" tIns="0" bIns="0">
            <a:spAutoFit/>
          </a:bodyPr>
          <a:lstStyle/>
          <a:p>
            <a:pPr algn="l">
              <a:lnSpc>
                <a:spcPct val="105000"/>
              </a:lnSpc>
              <a:spcBef>
                <a:spcPts val="0"/>
              </a:spcBef>
              <a:spcAft>
                <a:spcPts val="0"/>
              </a:spcAft>
            </a:pPr>
            <a:r>
              <a:rPr sz="1100" b="0">
                <a:solidFill>
                  <a:srgbClr val="66727F"/>
                </a:solidFill>
                <a:latin typeface="Consolas"/>
              </a:rPr>
              <a:t>wakeel · new agent</a:t>
            </a:r>
          </a:p>
        </p:txBody>
      </p:sp>
      <p:sp>
        <p:nvSpPr>
          <p:cNvPr id="14" name="TextBox 13"/>
          <p:cNvSpPr txBox="1"/>
          <p:nvPr/>
        </p:nvSpPr>
        <p:spPr>
          <a:xfrm>
            <a:off x="960120" y="2240280"/>
            <a:ext cx="10241280" cy="4114800"/>
          </a:xfrm>
          <a:prstGeom prst="rect">
            <a:avLst/>
          </a:prstGeom>
          <a:noFill/>
        </p:spPr>
        <p:txBody>
          <a:bodyPr wrap="square" anchor="t" lIns="0" rIns="0" tIns="0" bIns="0">
            <a:spAutoFit/>
          </a:bodyPr>
          <a:lstStyle/>
          <a:p>
            <a:pPr algn="l">
              <a:lnSpc>
                <a:spcPct val="110000"/>
              </a:lnSpc>
              <a:spcBef>
                <a:spcPts val="0"/>
              </a:spcBef>
              <a:spcAft>
                <a:spcPts val="700"/>
              </a:spcAft>
            </a:pPr>
            <a:r>
              <a:rPr sz="1250" b="0">
                <a:solidFill>
                  <a:srgbClr val="D7E3EC"/>
                </a:solidFill>
                <a:latin typeface="Consolas"/>
              </a:rPr>
              <a:t>Create a </a:t>
            </a:r>
            <a:r>
              <a:rPr sz="1250" b="1">
                <a:solidFill>
                  <a:srgbClr val="12B76A"/>
                </a:solidFill>
                <a:latin typeface="Consolas"/>
              </a:rPr>
              <a:t>Microsoft 365-based G2B Emiratization Compliance Agent</a:t>
            </a:r>
            <a:r>
              <a:rPr sz="1250" b="0">
                <a:solidFill>
                  <a:srgbClr val="D7E3EC"/>
                </a:solidFill>
                <a:latin typeface="Consolas"/>
              </a:rPr>
              <a:t> for MoHRE.</a:t>
            </a:r>
          </a:p>
          <a:p>
            <a:pPr algn="l">
              <a:lnSpc>
                <a:spcPct val="110000"/>
              </a:lnSpc>
              <a:spcBef>
                <a:spcPts val="0"/>
              </a:spcBef>
              <a:spcAft>
                <a:spcPts val="700"/>
              </a:spcAft>
            </a:pPr>
            <a:r>
              <a:rPr sz="1250" b="0">
                <a:solidFill>
                  <a:srgbClr val="D7E3EC"/>
                </a:solidFill>
                <a:latin typeface="Consolas"/>
              </a:rPr>
              <a:t>Use these integrations only:</a:t>
            </a:r>
          </a:p>
          <a:p>
            <a:pPr algn="l">
              <a:lnSpc>
                <a:spcPct val="110000"/>
              </a:lnSpc>
              <a:spcBef>
                <a:spcPts val="0"/>
              </a:spcBef>
              <a:spcAft>
                <a:spcPts val="700"/>
              </a:spcAft>
            </a:pPr>
            <a:r>
              <a:rPr sz="1200" b="0">
                <a:solidFill>
                  <a:srgbClr val="9AA7B6"/>
                </a:solidFill>
                <a:latin typeface="Consolas"/>
              </a:rPr>
              <a:t>  • Outlook — send outreach, receive responses, send reminders, escalate cases.</a:t>
            </a:r>
          </a:p>
          <a:p>
            <a:pPr algn="l">
              <a:lnSpc>
                <a:spcPct val="110000"/>
              </a:lnSpc>
              <a:spcBef>
                <a:spcPts val="0"/>
              </a:spcBef>
              <a:spcAft>
                <a:spcPts val="700"/>
              </a:spcAft>
            </a:pPr>
            <a:r>
              <a:rPr sz="1200" b="0">
                <a:solidFill>
                  <a:srgbClr val="9AA7B6"/>
                </a:solidFill>
                <a:latin typeface="Consolas"/>
              </a:rPr>
              <a:t>  • SharePoint — SOPs, Emiratization policies, report templates, approved email templates.</a:t>
            </a:r>
          </a:p>
          <a:p>
            <a:pPr algn="l">
              <a:lnSpc>
                <a:spcPct val="110000"/>
              </a:lnSpc>
              <a:spcBef>
                <a:spcPts val="0"/>
              </a:spcBef>
              <a:spcAft>
                <a:spcPts val="700"/>
              </a:spcAft>
            </a:pPr>
            <a:r>
              <a:rPr sz="1200" b="0">
                <a:solidFill>
                  <a:srgbClr val="9AA7B6"/>
                </a:solidFill>
                <a:latin typeface="Consolas"/>
              </a:rPr>
              <a:t>  • Excel on SharePoint — maintain the business registry and compliance tracking sheet.</a:t>
            </a:r>
          </a:p>
          <a:p>
            <a:pPr algn="l">
              <a:lnSpc>
                <a:spcPct val="110000"/>
              </a:lnSpc>
              <a:spcBef>
                <a:spcPts val="0"/>
              </a:spcBef>
              <a:spcAft>
                <a:spcPts val="700"/>
              </a:spcAft>
            </a:pPr>
            <a:r>
              <a:rPr sz="1200" b="0">
                <a:solidFill>
                  <a:srgbClr val="C3D0DC"/>
                </a:solidFill>
                <a:latin typeface="Consolas"/>
              </a:rPr>
              <a:t>Read the registry to identify businesses requiring outreach, send approved report-request</a:t>
            </a:r>
          </a:p>
          <a:p>
            <a:pPr algn="l">
              <a:lnSpc>
                <a:spcPct val="110000"/>
              </a:lnSpc>
              <a:spcBef>
                <a:spcPts val="0"/>
              </a:spcBef>
              <a:spcAft>
                <a:spcPts val="700"/>
              </a:spcAft>
            </a:pPr>
            <a:r>
              <a:rPr sz="1200" b="0">
                <a:solidFill>
                  <a:srgbClr val="C3D0DC"/>
                </a:solidFill>
                <a:latin typeface="Consolas"/>
              </a:rPr>
              <a:t>emails, monitor replies, evaluate responses against SOPs, update Excel status, and send</a:t>
            </a:r>
          </a:p>
          <a:p>
            <a:pPr algn="l">
              <a:lnSpc>
                <a:spcPct val="110000"/>
              </a:lnSpc>
              <a:spcBef>
                <a:spcPts val="0"/>
              </a:spcBef>
              <a:spcAft>
                <a:spcPts val="700"/>
              </a:spcAft>
            </a:pPr>
            <a:r>
              <a:rPr sz="1200" b="0">
                <a:solidFill>
                  <a:srgbClr val="C3D0DC"/>
                </a:solidFill>
                <a:latin typeface="Consolas"/>
              </a:rPr>
              <a:t>follow-ups for missing, incomplete, or overdue responses.</a:t>
            </a:r>
          </a:p>
          <a:p>
            <a:pPr algn="l">
              <a:lnSpc>
                <a:spcPct val="110000"/>
              </a:lnSpc>
              <a:spcBef>
                <a:spcPts val="0"/>
              </a:spcBef>
              <a:spcAft>
                <a:spcPts val="700"/>
              </a:spcAft>
            </a:pPr>
            <a:r>
              <a:rPr sz="1200" b="0">
                <a:solidFill>
                  <a:srgbClr val="9AA7B6"/>
                </a:solidFill>
                <a:latin typeface="Consolas"/>
              </a:rPr>
              <a:t>Track: Business Name, Contact Email, Sector, Compliance Status, Last Outreach Date, Last</a:t>
            </a:r>
          </a:p>
          <a:p>
            <a:pPr algn="l">
              <a:lnSpc>
                <a:spcPct val="110000"/>
              </a:lnSpc>
              <a:spcBef>
                <a:spcPts val="0"/>
              </a:spcBef>
              <a:spcAft>
                <a:spcPts val="700"/>
              </a:spcAft>
            </a:pPr>
            <a:r>
              <a:rPr sz="1200" b="0">
                <a:solidFill>
                  <a:srgbClr val="9AA7B6"/>
                </a:solidFill>
                <a:latin typeface="Consolas"/>
              </a:rPr>
              <a:t>Response Date, Assigned Officer, Notes, Next Action.  ·  Support daily + manual runs.</a:t>
            </a:r>
          </a:p>
          <a:p>
            <a:pPr algn="l">
              <a:lnSpc>
                <a:spcPct val="110000"/>
              </a:lnSpc>
              <a:spcBef>
                <a:spcPts val="0"/>
              </a:spcBef>
              <a:spcAft>
                <a:spcPts val="700"/>
              </a:spcAft>
            </a:pPr>
            <a:r>
              <a:rPr sz="1200" b="0">
                <a:solidFill>
                  <a:srgbClr val="9AA7B6"/>
                </a:solidFill>
                <a:latin typeface="Consolas"/>
              </a:rPr>
              <a:t>Statuses: Pending Outreach, Report Requested, Response Received, Incomplete Submission,</a:t>
            </a:r>
          </a:p>
          <a:p>
            <a:pPr algn="l">
              <a:lnSpc>
                <a:spcPct val="110000"/>
              </a:lnSpc>
              <a:spcBef>
                <a:spcPts val="0"/>
              </a:spcBef>
              <a:spcAft>
                <a:spcPts val="700"/>
              </a:spcAft>
            </a:pPr>
            <a:r>
              <a:rPr sz="1200" b="0">
                <a:solidFill>
                  <a:srgbClr val="9AA7B6"/>
                </a:solidFill>
                <a:latin typeface="Consolas"/>
              </a:rPr>
              <a:t>Under Review, Follow-up Sent, Escalation Required, Completed.</a:t>
            </a:r>
          </a:p>
          <a:p>
            <a:pPr algn="l">
              <a:lnSpc>
                <a:spcPct val="110000"/>
              </a:lnSpc>
              <a:spcBef>
                <a:spcPts val="0"/>
              </a:spcBef>
              <a:spcAft>
                <a:spcPts val="700"/>
              </a:spcAft>
            </a:pPr>
            <a:r>
              <a:rPr sz="1250" b="1">
                <a:solidFill>
                  <a:srgbClr val="12B76A"/>
                </a:solidFill>
                <a:latin typeface="Consolas"/>
              </a:rPr>
              <a:t>The agent must not make final legal or enforcement decisions.</a:t>
            </a:r>
            <a:r>
              <a:rPr sz="1200" b="0">
                <a:solidFill>
                  <a:srgbClr val="C3D0DC"/>
                </a:solidFill>
                <a:latin typeface="Consolas"/>
              </a:rPr>
              <a:t> It reviews, identifies gaps,</a:t>
            </a:r>
          </a:p>
          <a:p>
            <a:pPr algn="l">
              <a:lnSpc>
                <a:spcPct val="110000"/>
              </a:lnSpc>
              <a:spcBef>
                <a:spcPts val="0"/>
              </a:spcBef>
              <a:spcAft>
                <a:spcPts val="700"/>
              </a:spcAft>
            </a:pPr>
            <a:r>
              <a:rPr sz="1200" b="0">
                <a:solidFill>
                  <a:srgbClr val="C3D0DC"/>
                </a:solidFill>
                <a:latin typeface="Consolas"/>
              </a:rPr>
              <a:t>recommends next actions, updates records, and escalates to officers. MoHRE-style tone.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651760"/>
            <a:ext cx="1280160" cy="457200"/>
          </a:xfrm>
          <a:prstGeom prst="roundRect">
            <a:avLst>
              <a:gd name="adj" fmla="val 6000"/>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651760"/>
            <a:ext cx="1280160" cy="457200"/>
          </a:xfrm>
          <a:prstGeom prst="rect">
            <a:avLst/>
          </a:prstGeom>
          <a:noFill/>
        </p:spPr>
        <p:txBody>
          <a:bodyPr wrap="square" anchor="ctr" lIns="0" rIns="0" tIns="0" bIns="0">
            <a:spAutoFit/>
          </a:bodyPr>
          <a:lstStyle/>
          <a:p>
            <a:pPr algn="ctr">
              <a:lnSpc>
                <a:spcPct val="105000"/>
              </a:lnSpc>
              <a:spcBef>
                <a:spcPts val="0"/>
              </a:spcBef>
              <a:spcAft>
                <a:spcPts val="0"/>
              </a:spcAft>
            </a:pPr>
            <a:r>
              <a:rPr sz="1400" b="1">
                <a:solidFill>
                  <a:srgbClr val="FFFFFF"/>
                </a:solidFill>
                <a:latin typeface="Segoe UI"/>
              </a:rPr>
              <a:t>PART 1</a:t>
            </a:r>
          </a:p>
        </p:txBody>
      </p:sp>
      <p:sp>
        <p:nvSpPr>
          <p:cNvPr id="9" name="TextBox 8"/>
          <p:cNvSpPr txBox="1"/>
          <p:nvPr/>
        </p:nvSpPr>
        <p:spPr>
          <a:xfrm>
            <a:off x="2194560" y="2615184"/>
            <a:ext cx="8229600" cy="502920"/>
          </a:xfrm>
          <a:prstGeom prst="rect">
            <a:avLst/>
          </a:prstGeom>
          <a:noFill/>
        </p:spPr>
        <p:txBody>
          <a:bodyPr wrap="square" anchor="ctr" lIns="0" rIns="0" tIns="0" bIns="0">
            <a:spAutoFit/>
          </a:bodyPr>
          <a:lstStyle/>
          <a:p>
            <a:pPr algn="l">
              <a:lnSpc>
                <a:spcPct val="105000"/>
              </a:lnSpc>
              <a:spcBef>
                <a:spcPts val="0"/>
              </a:spcBef>
              <a:spcAft>
                <a:spcPts val="0"/>
              </a:spcAft>
            </a:pPr>
            <a:r>
              <a:rPr sz="1250" b="1" spc="160">
                <a:solidFill>
                  <a:srgbClr val="12B76A"/>
                </a:solidFill>
                <a:latin typeface="Segoe UI"/>
              </a:rPr>
              <a:t>BUILDING THE AGENT — ABOUT FIVE MINUTES</a:t>
            </a:r>
          </a:p>
        </p:txBody>
      </p:sp>
      <p:sp>
        <p:nvSpPr>
          <p:cNvPr id="10" name="TextBox 9"/>
          <p:cNvSpPr txBox="1"/>
          <p:nvPr/>
        </p:nvSpPr>
        <p:spPr>
          <a:xfrm>
            <a:off x="658368" y="3246120"/>
            <a:ext cx="10789920" cy="1280160"/>
          </a:xfrm>
          <a:prstGeom prst="rect">
            <a:avLst/>
          </a:prstGeom>
          <a:noFill/>
        </p:spPr>
        <p:txBody>
          <a:bodyPr wrap="square" anchor="t" lIns="0" rIns="0" tIns="0" bIns="0">
            <a:spAutoFit/>
          </a:bodyPr>
          <a:lstStyle/>
          <a:p>
            <a:pPr algn="l">
              <a:lnSpc>
                <a:spcPct val="102000"/>
              </a:lnSpc>
              <a:spcBef>
                <a:spcPts val="0"/>
              </a:spcBef>
              <a:spcAft>
                <a:spcPts val="0"/>
              </a:spcAft>
            </a:pPr>
            <a:r>
              <a:rPr sz="3400" b="1">
                <a:solidFill>
                  <a:srgbClr val="EFF3F7"/>
                </a:solidFill>
                <a:latin typeface="Segoe UI"/>
              </a:rPr>
              <a:t>From a paragraph to a governed, running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1</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The officer signs in</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Any MoHRE employee signs in with their entity account.</a:t>
            </a:r>
          </a:p>
          <a:p>
            <a:pPr algn="l">
              <a:lnSpc>
                <a:spcPct val="120000"/>
              </a:lnSpc>
              <a:spcBef>
                <a:spcPts val="0"/>
              </a:spcBef>
              <a:spcAft>
                <a:spcPts val="1100"/>
              </a:spcAft>
            </a:pPr>
            <a:r>
              <a:rPr sz="1350" b="0">
                <a:solidFill>
                  <a:srgbClr val="9AA7B6"/>
                </a:solidFill>
                <a:latin typeface="Segoe UI"/>
              </a:rPr>
              <a:t>•  No developer and no setup required.</a:t>
            </a:r>
          </a:p>
          <a:p>
            <a:pPr algn="l">
              <a:lnSpc>
                <a:spcPct val="120000"/>
              </a:lnSpc>
              <a:spcBef>
                <a:spcPts val="0"/>
              </a:spcBef>
              <a:spcAft>
                <a:spcPts val="1100"/>
              </a:spcAft>
            </a:pPr>
            <a:r>
              <a:rPr sz="1350" b="0">
                <a:solidFill>
                  <a:srgbClr val="9AA7B6"/>
                </a:solidFill>
                <a:latin typeface="Segoe UI"/>
              </a:rPr>
              <a:t>•  Wakeel opens in Arabic or English.</a:t>
            </a:r>
          </a:p>
        </p:txBody>
      </p:sp>
      <p:sp>
        <p:nvSpPr>
          <p:cNvPr id="11" name="Rounded Rectangle 10"/>
          <p:cNvSpPr/>
          <p:nvPr/>
        </p:nvSpPr>
        <p:spPr>
          <a:xfrm>
            <a:off x="4928235" y="1497852"/>
            <a:ext cx="6739890" cy="4273775"/>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login.jpg"/>
          <p:cNvPicPr>
            <a:picLocks noChangeAspect="1"/>
          </p:cNvPicPr>
          <p:nvPr/>
        </p:nvPicPr>
        <p:blipFill>
          <a:blip r:embed="rId2"/>
          <a:stretch>
            <a:fillRect/>
          </a:stretch>
        </p:blipFill>
        <p:spPr>
          <a:xfrm>
            <a:off x="4937760" y="1507377"/>
            <a:ext cx="6720840" cy="4254725"/>
          </a:xfrm>
          <a:prstGeom prst="rect">
            <a:avLst/>
          </a:prstGeom>
          <a:ln w="9525">
            <a:solidFill>
              <a:srgbClr val="1E2A3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2</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They describe it in chat</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Instead of a builder, the officer just writes what they need.</a:t>
            </a:r>
          </a:p>
          <a:p>
            <a:pPr algn="l">
              <a:lnSpc>
                <a:spcPct val="120000"/>
              </a:lnSpc>
              <a:spcBef>
                <a:spcPts val="0"/>
              </a:spcBef>
              <a:spcAft>
                <a:spcPts val="1100"/>
              </a:spcAft>
            </a:pPr>
            <a:r>
              <a:rPr sz="1350" b="0">
                <a:solidFill>
                  <a:srgbClr val="9AA7B6"/>
                </a:solidFill>
                <a:latin typeface="Segoe UI"/>
              </a:rPr>
              <a:t>•  The MoHRE prompt from the previous slide.</a:t>
            </a:r>
          </a:p>
          <a:p>
            <a:pPr algn="l">
              <a:lnSpc>
                <a:spcPct val="120000"/>
              </a:lnSpc>
              <a:spcBef>
                <a:spcPts val="0"/>
              </a:spcBef>
              <a:spcAft>
                <a:spcPts val="1100"/>
              </a:spcAft>
            </a:pPr>
            <a:r>
              <a:rPr sz="1350" b="0">
                <a:solidFill>
                  <a:srgbClr val="9AA7B6"/>
                </a:solidFill>
                <a:latin typeface="Segoe UI"/>
              </a:rPr>
              <a:t>•  Wakeel works in the language they use.</a:t>
            </a:r>
          </a:p>
        </p:txBody>
      </p:sp>
      <p:sp>
        <p:nvSpPr>
          <p:cNvPr id="11" name="Rounded Rectangle 10"/>
          <p:cNvSpPr/>
          <p:nvPr/>
        </p:nvSpPr>
        <p:spPr>
          <a:xfrm>
            <a:off x="4928235" y="1497852"/>
            <a:ext cx="6739890" cy="4273775"/>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home.jpg"/>
          <p:cNvPicPr>
            <a:picLocks noChangeAspect="1"/>
          </p:cNvPicPr>
          <p:nvPr/>
        </p:nvPicPr>
        <p:blipFill>
          <a:blip r:embed="rId2"/>
          <a:stretch>
            <a:fillRect/>
          </a:stretch>
        </p:blipFill>
        <p:spPr>
          <a:xfrm>
            <a:off x="4937760" y="1507377"/>
            <a:ext cx="6720840" cy="4254725"/>
          </a:xfrm>
          <a:prstGeom prst="rect">
            <a:avLst/>
          </a:prstGeom>
          <a:ln w="9525">
            <a:solidFill>
              <a:srgbClr val="1E2A3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3</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Wakeel proposes the architecture — first</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It reasons through triggers, integrations, registry fields, statuses and guardrails.</a:t>
            </a:r>
          </a:p>
          <a:p>
            <a:pPr algn="l">
              <a:lnSpc>
                <a:spcPct val="120000"/>
              </a:lnSpc>
              <a:spcBef>
                <a:spcPts val="0"/>
              </a:spcBef>
              <a:spcAft>
                <a:spcPts val="1100"/>
              </a:spcAft>
            </a:pPr>
            <a:r>
              <a:rPr sz="1350" b="0">
                <a:solidFill>
                  <a:srgbClr val="9AA7B6"/>
                </a:solidFill>
                <a:latin typeface="Segoe UI"/>
              </a:rPr>
              <a:t>•  Shows the whole design: a per-business loop, a 16-node flow, the Excel schema and allowed statuses.</a:t>
            </a:r>
          </a:p>
          <a:p>
            <a:pPr algn="l">
              <a:lnSpc>
                <a:spcPct val="120000"/>
              </a:lnSpc>
              <a:spcBef>
                <a:spcPts val="0"/>
              </a:spcBef>
              <a:spcAft>
                <a:spcPts val="1100"/>
              </a:spcAft>
            </a:pPr>
            <a:r>
              <a:rPr sz="1350" b="0">
                <a:solidFill>
                  <a:srgbClr val="9AA7B6"/>
                </a:solidFill>
                <a:latin typeface="Segoe UI"/>
              </a:rPr>
              <a:t>•  Ends with “Shall I build this agent?” — Build or Request changes.</a:t>
            </a:r>
          </a:p>
          <a:p>
            <a:pPr algn="l">
              <a:lnSpc>
                <a:spcPct val="120000"/>
              </a:lnSpc>
              <a:spcBef>
                <a:spcPts val="0"/>
              </a:spcBef>
              <a:spcAft>
                <a:spcPts val="1100"/>
              </a:spcAft>
            </a:pPr>
            <a:r>
              <a:rPr sz="1350" b="0">
                <a:solidFill>
                  <a:srgbClr val="9AA7B6"/>
                </a:solidFill>
                <a:latin typeface="Segoe UI"/>
              </a:rPr>
              <a:t>•  Nothing is created until the officer approves.</a:t>
            </a:r>
          </a:p>
        </p:txBody>
      </p:sp>
      <p:sp>
        <p:nvSpPr>
          <p:cNvPr id="11" name="TextBox 10"/>
          <p:cNvSpPr txBox="1"/>
          <p:nvPr/>
        </p:nvSpPr>
        <p:spPr>
          <a:xfrm>
            <a:off x="749808" y="5989320"/>
            <a:ext cx="3977639" cy="731520"/>
          </a:xfrm>
          <a:prstGeom prst="rect">
            <a:avLst/>
          </a:prstGeom>
          <a:noFill/>
        </p:spPr>
        <p:txBody>
          <a:bodyPr wrap="square" anchor="t" lIns="0" rIns="0" tIns="0" bIns="0">
            <a:spAutoFit/>
          </a:bodyPr>
          <a:lstStyle/>
          <a:p>
            <a:pPr algn="l">
              <a:lnSpc>
                <a:spcPct val="115000"/>
              </a:lnSpc>
              <a:spcBef>
                <a:spcPts val="0"/>
              </a:spcBef>
              <a:spcAft>
                <a:spcPts val="0"/>
              </a:spcAft>
            </a:pPr>
            <a:r>
              <a:rPr sz="1150" b="0">
                <a:solidFill>
                  <a:srgbClr val="66727F"/>
                </a:solidFill>
                <a:latin typeface="Segoe UI"/>
              </a:rPr>
              <a:t>Editable by chatting — e.g. “add an Arabic translation step” or “require sign-off before any rejection”.</a:t>
            </a:r>
          </a:p>
        </p:txBody>
      </p:sp>
      <p:sp>
        <p:nvSpPr>
          <p:cNvPr id="12" name="Rounded Rectangle 11"/>
          <p:cNvSpPr/>
          <p:nvPr/>
        </p:nvSpPr>
        <p:spPr>
          <a:xfrm>
            <a:off x="5472944" y="904875"/>
            <a:ext cx="5650471" cy="5459730"/>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ory_design_top.jpg"/>
          <p:cNvPicPr>
            <a:picLocks noChangeAspect="1"/>
          </p:cNvPicPr>
          <p:nvPr/>
        </p:nvPicPr>
        <p:blipFill>
          <a:blip r:embed="rId2"/>
          <a:stretch>
            <a:fillRect/>
          </a:stretch>
        </p:blipFill>
        <p:spPr>
          <a:xfrm>
            <a:off x="5482469" y="914400"/>
            <a:ext cx="5631421" cy="5440680"/>
          </a:xfrm>
          <a:prstGeom prst="rect">
            <a:avLst/>
          </a:prstGeom>
          <a:ln w="9525">
            <a:solidFill>
              <a:srgbClr val="1E2A3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4</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The officer reviews the built flow</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On approval Wakeel builds the agent and opens its workspace.</a:t>
            </a:r>
          </a:p>
          <a:p>
            <a:pPr algn="l">
              <a:lnSpc>
                <a:spcPct val="120000"/>
              </a:lnSpc>
              <a:spcBef>
                <a:spcPts val="0"/>
              </a:spcBef>
              <a:spcAft>
                <a:spcPts val="1100"/>
              </a:spcAft>
            </a:pPr>
            <a:r>
              <a:rPr sz="1350" b="0">
                <a:solidFill>
                  <a:srgbClr val="9AA7B6"/>
                </a:solidFill>
                <a:latin typeface="Segoe UI"/>
              </a:rPr>
              <a:t>•  Every node is visible and runnable — registry read, per-business loop, outreach, review, Excel update, follow-up, escalation and the daily summary.</a:t>
            </a:r>
          </a:p>
        </p:txBody>
      </p:sp>
      <p:sp>
        <p:nvSpPr>
          <p:cNvPr id="11" name="Rounded Rectangle 10"/>
          <p:cNvSpPr/>
          <p:nvPr/>
        </p:nvSpPr>
        <p:spPr>
          <a:xfrm>
            <a:off x="4928235" y="1272921"/>
            <a:ext cx="6739890" cy="4723638"/>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flow.jpg"/>
          <p:cNvPicPr>
            <a:picLocks noChangeAspect="1"/>
          </p:cNvPicPr>
          <p:nvPr/>
        </p:nvPicPr>
        <p:blipFill>
          <a:blip r:embed="rId2"/>
          <a:stretch>
            <a:fillRect/>
          </a:stretch>
        </p:blipFill>
        <p:spPr>
          <a:xfrm>
            <a:off x="4937760" y="1282446"/>
            <a:ext cx="6720840" cy="4704588"/>
          </a:xfrm>
          <a:prstGeom prst="rect">
            <a:avLst/>
          </a:prstGeom>
          <a:ln w="9525">
            <a:solidFill>
              <a:srgbClr val="1E2A3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5</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Governance &amp; guardrails — auto-generated</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Because it is a government agent, Wakeel writes a policy layer for it.</a:t>
            </a:r>
          </a:p>
          <a:p>
            <a:pPr algn="l">
              <a:lnSpc>
                <a:spcPct val="120000"/>
              </a:lnSpc>
              <a:spcBef>
                <a:spcPts val="0"/>
              </a:spcBef>
              <a:spcAft>
                <a:spcPts val="1100"/>
              </a:spcAft>
            </a:pPr>
            <a:r>
              <a:rPr sz="1350" b="0">
                <a:solidFill>
                  <a:srgbClr val="9AA7B6"/>
                </a:solidFill>
                <a:latin typeface="Segoe UI"/>
              </a:rPr>
              <a:t>•  Decision boundary, guardrails, human-in-the-loop checkpoints, allowed statuses and escalation policy.</a:t>
            </a:r>
          </a:p>
          <a:p>
            <a:pPr algn="l">
              <a:lnSpc>
                <a:spcPct val="120000"/>
              </a:lnSpc>
              <a:spcBef>
                <a:spcPts val="0"/>
              </a:spcBef>
              <a:spcAft>
                <a:spcPts val="1100"/>
              </a:spcAft>
            </a:pPr>
            <a:r>
              <a:rPr sz="1350" b="0">
                <a:solidFill>
                  <a:srgbClr val="9AA7B6"/>
                </a:solidFill>
                <a:latin typeface="Segoe UI"/>
              </a:rPr>
              <a:t>•  This is what keeps the agent advisory: it recommends, people decide.</a:t>
            </a:r>
          </a:p>
        </p:txBody>
      </p:sp>
      <p:sp>
        <p:nvSpPr>
          <p:cNvPr id="11" name="Rounded Rectangle 10"/>
          <p:cNvSpPr/>
          <p:nvPr/>
        </p:nvSpPr>
        <p:spPr>
          <a:xfrm>
            <a:off x="5147853" y="904875"/>
            <a:ext cx="6300654" cy="5459730"/>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gov.jpg"/>
          <p:cNvPicPr>
            <a:picLocks noChangeAspect="1"/>
          </p:cNvPicPr>
          <p:nvPr/>
        </p:nvPicPr>
        <p:blipFill>
          <a:blip r:embed="rId2"/>
          <a:stretch>
            <a:fillRect/>
          </a:stretch>
        </p:blipFill>
        <p:spPr>
          <a:xfrm>
            <a:off x="5157378" y="914400"/>
            <a:ext cx="6281604" cy="5440680"/>
          </a:xfrm>
          <a:prstGeom prst="rect">
            <a:avLst/>
          </a:prstGeom>
          <a:ln w="9525">
            <a:solidFill>
              <a:srgbClr val="1E2A3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6</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Microsoft 365 is connected — as one product</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The officer connects Outlook, SharePoint and Excel.</a:t>
            </a:r>
          </a:p>
          <a:p>
            <a:pPr algn="l">
              <a:lnSpc>
                <a:spcPct val="120000"/>
              </a:lnSpc>
              <a:spcBef>
                <a:spcPts val="0"/>
              </a:spcBef>
              <a:spcAft>
                <a:spcPts val="1100"/>
              </a:spcAft>
            </a:pPr>
            <a:r>
              <a:rPr sz="1350" b="0">
                <a:solidFill>
                  <a:srgbClr val="9AA7B6"/>
                </a:solidFill>
                <a:latin typeface="Segoe UI"/>
              </a:rPr>
              <a:t>•  Wakeel's built-in engine handles the Microsoft connectors and the schedule; the agent does the thinking.</a:t>
            </a:r>
          </a:p>
          <a:p>
            <a:pPr algn="l">
              <a:lnSpc>
                <a:spcPct val="120000"/>
              </a:lnSpc>
              <a:spcBef>
                <a:spcPts val="0"/>
              </a:spcBef>
              <a:spcAft>
                <a:spcPts val="1100"/>
              </a:spcAft>
            </a:pPr>
            <a:r>
              <a:rPr sz="1350" b="0">
                <a:solidFill>
                  <a:srgbClr val="9AA7B6"/>
                </a:solidFill>
                <a:latin typeface="Segoe UI"/>
              </a:rPr>
              <a:t>•  One Microsoft sign-in, then it runs on your timer.</a:t>
            </a:r>
          </a:p>
          <a:p>
            <a:pPr algn="l">
              <a:lnSpc>
                <a:spcPct val="120000"/>
              </a:lnSpc>
              <a:spcBef>
                <a:spcPts val="0"/>
              </a:spcBef>
              <a:spcAft>
                <a:spcPts val="1100"/>
              </a:spcAft>
            </a:pPr>
            <a:r>
              <a:rPr sz="1350" b="0">
                <a:solidFill>
                  <a:srgbClr val="9AA7B6"/>
                </a:solidFill>
                <a:latin typeface="Segoe UI"/>
              </a:rPr>
              <a:t>•  Self-hostable on Azure UAE North for data residency.</a:t>
            </a:r>
          </a:p>
        </p:txBody>
      </p:sp>
      <p:sp>
        <p:nvSpPr>
          <p:cNvPr id="11" name="Rounded Rectangle 10"/>
          <p:cNvSpPr/>
          <p:nvPr/>
        </p:nvSpPr>
        <p:spPr>
          <a:xfrm>
            <a:off x="5373165" y="904875"/>
            <a:ext cx="5850029" cy="5459730"/>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_trig3.jpg"/>
          <p:cNvPicPr>
            <a:picLocks noChangeAspect="1"/>
          </p:cNvPicPr>
          <p:nvPr/>
        </p:nvPicPr>
        <p:blipFill>
          <a:blip r:embed="rId2"/>
          <a:stretch>
            <a:fillRect/>
          </a:stretch>
        </p:blipFill>
        <p:spPr>
          <a:xfrm>
            <a:off x="5382690" y="914400"/>
            <a:ext cx="5830979" cy="5440680"/>
          </a:xfrm>
          <a:prstGeom prst="rect">
            <a:avLst/>
          </a:prstGeom>
          <a:ln w="9525">
            <a:solidFill>
              <a:srgbClr val="1E2A3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6</a:t>
            </a:r>
          </a:p>
        </p:txBody>
      </p:sp>
      <p:sp>
        <p:nvSpPr>
          <p:cNvPr id="9" name="TextBox 8"/>
          <p:cNvSpPr txBox="1"/>
          <p:nvPr/>
        </p:nvSpPr>
        <p:spPr>
          <a:xfrm>
            <a:off x="1481328" y="896112"/>
            <a:ext cx="329184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The connector catalogue</a:t>
            </a:r>
          </a:p>
        </p:txBody>
      </p:sp>
      <p:sp>
        <p:nvSpPr>
          <p:cNvPr id="10" name="TextBox 9"/>
          <p:cNvSpPr txBox="1"/>
          <p:nvPr/>
        </p:nvSpPr>
        <p:spPr>
          <a:xfrm>
            <a:off x="749808" y="2148840"/>
            <a:ext cx="3977639" cy="329184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Outlook, SharePoint and Excel install natively.</a:t>
            </a:r>
          </a:p>
          <a:p>
            <a:pPr algn="l">
              <a:lnSpc>
                <a:spcPct val="120000"/>
              </a:lnSpc>
              <a:spcBef>
                <a:spcPts val="0"/>
              </a:spcBef>
              <a:spcAft>
                <a:spcPts val="1100"/>
              </a:spcAft>
            </a:pPr>
            <a:r>
              <a:rPr sz="1350" b="0">
                <a:solidFill>
                  <a:srgbClr val="9AA7B6"/>
                </a:solidFill>
                <a:latin typeface="Segoe UI"/>
              </a:rPr>
              <a:t>•  400+ connectors across Microsoft 365, UAE government, Google, databases and more.</a:t>
            </a:r>
          </a:p>
          <a:p>
            <a:pPr algn="l">
              <a:lnSpc>
                <a:spcPct val="120000"/>
              </a:lnSpc>
              <a:spcBef>
                <a:spcPts val="0"/>
              </a:spcBef>
              <a:spcAft>
                <a:spcPts val="1100"/>
              </a:spcAft>
            </a:pPr>
            <a:r>
              <a:rPr sz="1350" b="0">
                <a:solidFill>
                  <a:srgbClr val="9AA7B6"/>
                </a:solidFill>
                <a:latin typeface="Segoe UI"/>
              </a:rPr>
              <a:t>•  Real, recognisable logos — nothing to guess.</a:t>
            </a:r>
          </a:p>
        </p:txBody>
      </p:sp>
      <p:sp>
        <p:nvSpPr>
          <p:cNvPr id="11" name="Rounded Rectangle 10"/>
          <p:cNvSpPr/>
          <p:nvPr/>
        </p:nvSpPr>
        <p:spPr>
          <a:xfrm>
            <a:off x="4928235" y="1161810"/>
            <a:ext cx="6739890" cy="4945859"/>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_integ.jpg"/>
          <p:cNvPicPr>
            <a:picLocks noChangeAspect="1"/>
          </p:cNvPicPr>
          <p:nvPr/>
        </p:nvPicPr>
        <p:blipFill>
          <a:blip r:embed="rId2"/>
          <a:stretch>
            <a:fillRect/>
          </a:stretch>
        </p:blipFill>
        <p:spPr>
          <a:xfrm>
            <a:off x="4937760" y="1171335"/>
            <a:ext cx="6720840" cy="4926809"/>
          </a:xfrm>
          <a:prstGeom prst="rect">
            <a:avLst/>
          </a:prstGeom>
          <a:ln w="9525">
            <a:solidFill>
              <a:srgbClr val="1E2A3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286000"/>
            <a:ext cx="685800" cy="685800"/>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286000"/>
            <a:ext cx="685800" cy="685800"/>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7</a:t>
            </a:r>
          </a:p>
        </p:txBody>
      </p:sp>
      <p:sp>
        <p:nvSpPr>
          <p:cNvPr id="9" name="TextBox 8"/>
          <p:cNvSpPr txBox="1"/>
          <p:nvPr/>
        </p:nvSpPr>
        <p:spPr>
          <a:xfrm>
            <a:off x="1600200" y="2286000"/>
            <a:ext cx="9144000" cy="914400"/>
          </a:xfrm>
          <a:prstGeom prst="rect">
            <a:avLst/>
          </a:prstGeom>
          <a:noFill/>
        </p:spPr>
        <p:txBody>
          <a:bodyPr wrap="square" anchor="ctr" lIns="0" rIns="0" tIns="0" bIns="0">
            <a:spAutoFit/>
          </a:bodyPr>
          <a:lstStyle/>
          <a:p>
            <a:pPr algn="l">
              <a:lnSpc>
                <a:spcPct val="105000"/>
              </a:lnSpc>
              <a:spcBef>
                <a:spcPts val="0"/>
              </a:spcBef>
              <a:spcAft>
                <a:spcPts val="0"/>
              </a:spcAft>
            </a:pPr>
            <a:r>
              <a:rPr sz="3000" b="1">
                <a:solidFill>
                  <a:srgbClr val="EFF3F7"/>
                </a:solidFill>
                <a:latin typeface="Segoe UI"/>
              </a:rPr>
              <a:t>Test, fine-tune, publish</a:t>
            </a:r>
          </a:p>
        </p:txBody>
      </p:sp>
      <p:sp>
        <p:nvSpPr>
          <p:cNvPr id="10" name="TextBox 9"/>
          <p:cNvSpPr txBox="1"/>
          <p:nvPr/>
        </p:nvSpPr>
        <p:spPr>
          <a:xfrm>
            <a:off x="1627632" y="3291840"/>
            <a:ext cx="8961120" cy="1828800"/>
          </a:xfrm>
          <a:prstGeom prst="rect">
            <a:avLst/>
          </a:prstGeom>
          <a:noFill/>
        </p:spPr>
        <p:txBody>
          <a:bodyPr wrap="square" anchor="t" lIns="0" rIns="0" tIns="0" bIns="0">
            <a:spAutoFit/>
          </a:bodyPr>
          <a:lstStyle/>
          <a:p>
            <a:pPr algn="l">
              <a:lnSpc>
                <a:spcPct val="125000"/>
              </a:lnSpc>
              <a:spcBef>
                <a:spcPts val="0"/>
              </a:spcBef>
              <a:spcAft>
                <a:spcPts val="1200"/>
              </a:spcAft>
            </a:pPr>
            <a:r>
              <a:rPr sz="1600" b="0">
                <a:solidFill>
                  <a:srgbClr val="9AA7B6"/>
                </a:solidFill>
                <a:latin typeface="Segoe UI"/>
              </a:rPr>
              <a:t>The officer runs a manual test on a few sample registry rows, adjusts wording, escalation rules or status mapping if needed, and publishes.</a:t>
            </a:r>
          </a:p>
          <a:p>
            <a:pPr algn="l">
              <a:lnSpc>
                <a:spcPct val="125000"/>
              </a:lnSpc>
              <a:spcBef>
                <a:spcPts val="0"/>
              </a:spcBef>
              <a:spcAft>
                <a:spcPts val="1200"/>
              </a:spcAft>
            </a:pPr>
            <a:r>
              <a:rPr sz="1600" b="0">
                <a:solidFill>
                  <a:srgbClr val="9AA7B6"/>
                </a:solidFill>
                <a:latin typeface="Segoe UI"/>
              </a:rPr>
              <a:t>The agent is now operational — running daily checks, and available for manual, officer-triggered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2651760"/>
            <a:ext cx="1280160" cy="457200"/>
          </a:xfrm>
          <a:prstGeom prst="roundRect">
            <a:avLst>
              <a:gd name="adj" fmla="val 6000"/>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651760"/>
            <a:ext cx="1280160" cy="457200"/>
          </a:xfrm>
          <a:prstGeom prst="rect">
            <a:avLst/>
          </a:prstGeom>
          <a:noFill/>
        </p:spPr>
        <p:txBody>
          <a:bodyPr wrap="square" anchor="ctr" lIns="0" rIns="0" tIns="0" bIns="0">
            <a:spAutoFit/>
          </a:bodyPr>
          <a:lstStyle/>
          <a:p>
            <a:pPr algn="ctr">
              <a:lnSpc>
                <a:spcPct val="105000"/>
              </a:lnSpc>
              <a:spcBef>
                <a:spcPts val="0"/>
              </a:spcBef>
              <a:spcAft>
                <a:spcPts val="0"/>
              </a:spcAft>
            </a:pPr>
            <a:r>
              <a:rPr sz="1400" b="1">
                <a:solidFill>
                  <a:srgbClr val="FFFFFF"/>
                </a:solidFill>
                <a:latin typeface="Segoe UI"/>
              </a:rPr>
              <a:t>PART 2</a:t>
            </a:r>
          </a:p>
        </p:txBody>
      </p:sp>
      <p:sp>
        <p:nvSpPr>
          <p:cNvPr id="9" name="TextBox 8"/>
          <p:cNvSpPr txBox="1"/>
          <p:nvPr/>
        </p:nvSpPr>
        <p:spPr>
          <a:xfrm>
            <a:off x="2194560" y="2615184"/>
            <a:ext cx="8229600" cy="502920"/>
          </a:xfrm>
          <a:prstGeom prst="rect">
            <a:avLst/>
          </a:prstGeom>
          <a:noFill/>
        </p:spPr>
        <p:txBody>
          <a:bodyPr wrap="square" anchor="ctr" lIns="0" rIns="0" tIns="0" bIns="0">
            <a:spAutoFit/>
          </a:bodyPr>
          <a:lstStyle/>
          <a:p>
            <a:pPr algn="l">
              <a:lnSpc>
                <a:spcPct val="105000"/>
              </a:lnSpc>
              <a:spcBef>
                <a:spcPts val="0"/>
              </a:spcBef>
              <a:spcAft>
                <a:spcPts val="0"/>
              </a:spcAft>
            </a:pPr>
            <a:r>
              <a:rPr sz="1250" b="1" spc="160">
                <a:solidFill>
                  <a:srgbClr val="12B76A"/>
                </a:solidFill>
                <a:latin typeface="Segoe UI"/>
              </a:rPr>
              <a:t>THE AGENT AT WORK — EVERY DAY</a:t>
            </a:r>
          </a:p>
        </p:txBody>
      </p:sp>
      <p:sp>
        <p:nvSpPr>
          <p:cNvPr id="10" name="TextBox 9"/>
          <p:cNvSpPr txBox="1"/>
          <p:nvPr/>
        </p:nvSpPr>
        <p:spPr>
          <a:xfrm>
            <a:off x="658368" y="3246120"/>
            <a:ext cx="10789920" cy="1280160"/>
          </a:xfrm>
          <a:prstGeom prst="rect">
            <a:avLst/>
          </a:prstGeom>
          <a:noFill/>
        </p:spPr>
        <p:txBody>
          <a:bodyPr wrap="square" anchor="t" lIns="0" rIns="0" tIns="0" bIns="0">
            <a:spAutoFit/>
          </a:bodyPr>
          <a:lstStyle/>
          <a:p>
            <a:pPr algn="l">
              <a:lnSpc>
                <a:spcPct val="102000"/>
              </a:lnSpc>
              <a:spcBef>
                <a:spcPts val="0"/>
              </a:spcBef>
              <a:spcAft>
                <a:spcPts val="0"/>
              </a:spcAft>
            </a:pPr>
            <a:r>
              <a:rPr sz="3400" b="1">
                <a:solidFill>
                  <a:srgbClr val="EFF3F7"/>
                </a:solidFill>
                <a:latin typeface="Segoe UI"/>
              </a:rPr>
              <a:t>One run of the daily compliance cycle.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6692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1150" b="1" spc="180">
                <a:solidFill>
                  <a:srgbClr val="12B76A"/>
                </a:solidFill>
                <a:latin typeface="Segoe UI"/>
              </a:rPr>
              <a:t>SCHEDULED EACH WEEKDAY — OR LAUNCHED ON DEMAND</a:t>
            </a:r>
          </a:p>
        </p:txBody>
      </p:sp>
      <p:sp>
        <p:nvSpPr>
          <p:cNvPr id="8" name="TextBox 7"/>
          <p:cNvSpPr txBox="1"/>
          <p:nvPr/>
        </p:nvSpPr>
        <p:spPr>
          <a:xfrm>
            <a:off x="658368" y="886968"/>
            <a:ext cx="10789920" cy="640080"/>
          </a:xfrm>
          <a:prstGeom prst="rect">
            <a:avLst/>
          </a:prstGeom>
          <a:noFill/>
        </p:spPr>
        <p:txBody>
          <a:bodyPr wrap="square" anchor="t" lIns="0" rIns="0" tIns="0" bIns="0">
            <a:spAutoFit/>
          </a:bodyPr>
          <a:lstStyle/>
          <a:p>
            <a:pPr algn="l">
              <a:lnSpc>
                <a:spcPct val="105000"/>
              </a:lnSpc>
              <a:spcBef>
                <a:spcPts val="0"/>
              </a:spcBef>
              <a:spcAft>
                <a:spcPts val="0"/>
              </a:spcAft>
            </a:pPr>
            <a:r>
              <a:rPr sz="2700" b="1">
                <a:solidFill>
                  <a:srgbClr val="EFF3F7"/>
                </a:solidFill>
                <a:latin typeface="Segoe UI"/>
              </a:rPr>
              <a:t>What the agent does, in order.</a:t>
            </a:r>
          </a:p>
        </p:txBody>
      </p:sp>
      <p:sp>
        <p:nvSpPr>
          <p:cNvPr id="9" name="Rounded Rectangle 8"/>
          <p:cNvSpPr/>
          <p:nvPr/>
        </p:nvSpPr>
        <p:spPr>
          <a:xfrm>
            <a:off x="713232" y="178308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8424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1</a:t>
            </a:r>
          </a:p>
          <a:p>
            <a:pPr algn="l">
              <a:lnSpc>
                <a:spcPct val="115000"/>
              </a:lnSpc>
              <a:spcBef>
                <a:spcPts val="0"/>
              </a:spcBef>
              <a:spcAft>
                <a:spcPts val="600"/>
              </a:spcAft>
            </a:pPr>
            <a:r>
              <a:rPr sz="1500" b="1">
                <a:solidFill>
                  <a:srgbClr val="EFF3F7"/>
                </a:solidFill>
                <a:latin typeface="Segoe UI"/>
              </a:rPr>
              <a:t>Read the registry</a:t>
            </a:r>
          </a:p>
          <a:p>
            <a:pPr algn="l">
              <a:lnSpc>
                <a:spcPct val="115000"/>
              </a:lnSpc>
              <a:spcBef>
                <a:spcPts val="0"/>
              </a:spcBef>
              <a:spcAft>
                <a:spcPts val="600"/>
              </a:spcAft>
            </a:pPr>
            <a:r>
              <a:rPr sz="1250" b="0">
                <a:solidFill>
                  <a:srgbClr val="9AA7B6"/>
                </a:solidFill>
                <a:latin typeface="Segoe UI"/>
              </a:rPr>
              <a:t>Opens the Excel registry on SharePoint and finds businesses needing action.</a:t>
            </a:r>
          </a:p>
        </p:txBody>
      </p:sp>
      <p:sp>
        <p:nvSpPr>
          <p:cNvPr id="11" name="Rounded Rectangle 10"/>
          <p:cNvSpPr/>
          <p:nvPr/>
        </p:nvSpPr>
        <p:spPr>
          <a:xfrm>
            <a:off x="3602736" y="178308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22192" y="198424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2</a:t>
            </a:r>
          </a:p>
          <a:p>
            <a:pPr algn="l">
              <a:lnSpc>
                <a:spcPct val="115000"/>
              </a:lnSpc>
              <a:spcBef>
                <a:spcPts val="0"/>
              </a:spcBef>
              <a:spcAft>
                <a:spcPts val="600"/>
              </a:spcAft>
            </a:pPr>
            <a:r>
              <a:rPr sz="1500" b="1">
                <a:solidFill>
                  <a:srgbClr val="EFF3F7"/>
                </a:solidFill>
                <a:latin typeface="Segoe UI"/>
              </a:rPr>
              <a:t>Send outreach</a:t>
            </a:r>
          </a:p>
          <a:p>
            <a:pPr algn="l">
              <a:lnSpc>
                <a:spcPct val="115000"/>
              </a:lnSpc>
              <a:spcBef>
                <a:spcPts val="0"/>
              </a:spcBef>
              <a:spcAft>
                <a:spcPts val="600"/>
              </a:spcAft>
            </a:pPr>
            <a:r>
              <a:rPr sz="1250" b="0">
                <a:solidFill>
                  <a:srgbClr val="9AA7B6"/>
                </a:solidFill>
                <a:latin typeface="Segoe UI"/>
              </a:rPr>
              <a:t>Emails approved report-requests through Outlook in a professional MoHRE tone.</a:t>
            </a:r>
          </a:p>
        </p:txBody>
      </p:sp>
      <p:sp>
        <p:nvSpPr>
          <p:cNvPr id="13" name="Rounded Rectangle 12"/>
          <p:cNvSpPr/>
          <p:nvPr/>
        </p:nvSpPr>
        <p:spPr>
          <a:xfrm>
            <a:off x="6492240" y="178308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11696" y="198424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3</a:t>
            </a:r>
          </a:p>
          <a:p>
            <a:pPr algn="l">
              <a:lnSpc>
                <a:spcPct val="115000"/>
              </a:lnSpc>
              <a:spcBef>
                <a:spcPts val="0"/>
              </a:spcBef>
              <a:spcAft>
                <a:spcPts val="600"/>
              </a:spcAft>
            </a:pPr>
            <a:r>
              <a:rPr sz="1500" b="1">
                <a:solidFill>
                  <a:srgbClr val="EFF3F7"/>
                </a:solidFill>
                <a:latin typeface="Segoe UI"/>
              </a:rPr>
              <a:t>Monitor replies</a:t>
            </a:r>
          </a:p>
          <a:p>
            <a:pPr algn="l">
              <a:lnSpc>
                <a:spcPct val="115000"/>
              </a:lnSpc>
              <a:spcBef>
                <a:spcPts val="0"/>
              </a:spcBef>
              <a:spcAft>
                <a:spcPts val="600"/>
              </a:spcAft>
            </a:pPr>
            <a:r>
              <a:rPr sz="1250" b="0">
                <a:solidFill>
                  <a:srgbClr val="9AA7B6"/>
                </a:solidFill>
                <a:latin typeface="Segoe UI"/>
              </a:rPr>
              <a:t>Watches Outlook for business responses and marks them received.</a:t>
            </a:r>
          </a:p>
        </p:txBody>
      </p:sp>
      <p:sp>
        <p:nvSpPr>
          <p:cNvPr id="15" name="Rounded Rectangle 14"/>
          <p:cNvSpPr/>
          <p:nvPr/>
        </p:nvSpPr>
        <p:spPr>
          <a:xfrm>
            <a:off x="9381744" y="178308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198424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4</a:t>
            </a:r>
          </a:p>
          <a:p>
            <a:pPr algn="l">
              <a:lnSpc>
                <a:spcPct val="115000"/>
              </a:lnSpc>
              <a:spcBef>
                <a:spcPts val="0"/>
              </a:spcBef>
              <a:spcAft>
                <a:spcPts val="600"/>
              </a:spcAft>
            </a:pPr>
            <a:r>
              <a:rPr sz="1500" b="1">
                <a:solidFill>
                  <a:srgbClr val="EFF3F7"/>
                </a:solidFill>
                <a:latin typeface="Segoe UI"/>
              </a:rPr>
              <a:t>Review vs SOPs</a:t>
            </a:r>
          </a:p>
          <a:p>
            <a:pPr algn="l">
              <a:lnSpc>
                <a:spcPct val="115000"/>
              </a:lnSpc>
              <a:spcBef>
                <a:spcPts val="0"/>
              </a:spcBef>
              <a:spcAft>
                <a:spcPts val="600"/>
              </a:spcAft>
            </a:pPr>
            <a:r>
              <a:rPr sz="1250" b="0">
                <a:solidFill>
                  <a:srgbClr val="9AA7B6"/>
                </a:solidFill>
                <a:latin typeface="Segoe UI"/>
              </a:rPr>
              <a:t>Compares each submission to SharePoint policies; flags missing or unclear items.</a:t>
            </a:r>
          </a:p>
        </p:txBody>
      </p:sp>
      <p:sp>
        <p:nvSpPr>
          <p:cNvPr id="17" name="Rounded Rectangle 16"/>
          <p:cNvSpPr/>
          <p:nvPr/>
        </p:nvSpPr>
        <p:spPr>
          <a:xfrm>
            <a:off x="713232" y="411480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31596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5</a:t>
            </a:r>
          </a:p>
          <a:p>
            <a:pPr algn="l">
              <a:lnSpc>
                <a:spcPct val="115000"/>
              </a:lnSpc>
              <a:spcBef>
                <a:spcPts val="0"/>
              </a:spcBef>
              <a:spcAft>
                <a:spcPts val="600"/>
              </a:spcAft>
            </a:pPr>
            <a:r>
              <a:rPr sz="1500" b="1">
                <a:solidFill>
                  <a:srgbClr val="EFF3F7"/>
                </a:solidFill>
                <a:latin typeface="Segoe UI"/>
              </a:rPr>
              <a:t>Update Excel</a:t>
            </a:r>
          </a:p>
          <a:p>
            <a:pPr algn="l">
              <a:lnSpc>
                <a:spcPct val="115000"/>
              </a:lnSpc>
              <a:spcBef>
                <a:spcPts val="0"/>
              </a:spcBef>
              <a:spcAft>
                <a:spcPts val="600"/>
              </a:spcAft>
            </a:pPr>
            <a:r>
              <a:rPr sz="1250" b="0">
                <a:solidFill>
                  <a:srgbClr val="9AA7B6"/>
                </a:solidFill>
                <a:latin typeface="Segoe UI"/>
              </a:rPr>
              <a:t>Writes status, dates, notes, assigned officer and the next action.</a:t>
            </a:r>
          </a:p>
        </p:txBody>
      </p:sp>
      <p:sp>
        <p:nvSpPr>
          <p:cNvPr id="19" name="Rounded Rectangle 18"/>
          <p:cNvSpPr/>
          <p:nvPr/>
        </p:nvSpPr>
        <p:spPr>
          <a:xfrm>
            <a:off x="3602736" y="411480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22192" y="431596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6</a:t>
            </a:r>
          </a:p>
          <a:p>
            <a:pPr algn="l">
              <a:lnSpc>
                <a:spcPct val="115000"/>
              </a:lnSpc>
              <a:spcBef>
                <a:spcPts val="0"/>
              </a:spcBef>
              <a:spcAft>
                <a:spcPts val="600"/>
              </a:spcAft>
            </a:pPr>
            <a:r>
              <a:rPr sz="1500" b="1">
                <a:solidFill>
                  <a:srgbClr val="EFF3F7"/>
                </a:solidFill>
                <a:latin typeface="Segoe UI"/>
              </a:rPr>
              <a:t>Follow up</a:t>
            </a:r>
          </a:p>
          <a:p>
            <a:pPr algn="l">
              <a:lnSpc>
                <a:spcPct val="115000"/>
              </a:lnSpc>
              <a:spcBef>
                <a:spcPts val="0"/>
              </a:spcBef>
              <a:spcAft>
                <a:spcPts val="600"/>
              </a:spcAft>
            </a:pPr>
            <a:r>
              <a:rPr sz="1250" b="0">
                <a:solidFill>
                  <a:srgbClr val="9AA7B6"/>
                </a:solidFill>
                <a:latin typeface="Segoe UI"/>
              </a:rPr>
              <a:t>Sends a polite reminder for missing, incomplete or overdue responses.</a:t>
            </a:r>
          </a:p>
        </p:txBody>
      </p:sp>
      <p:sp>
        <p:nvSpPr>
          <p:cNvPr id="21" name="Rounded Rectangle 20"/>
          <p:cNvSpPr/>
          <p:nvPr/>
        </p:nvSpPr>
        <p:spPr>
          <a:xfrm>
            <a:off x="6492240" y="411480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11696" y="431596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7</a:t>
            </a:r>
          </a:p>
          <a:p>
            <a:pPr algn="l">
              <a:lnSpc>
                <a:spcPct val="115000"/>
              </a:lnSpc>
              <a:spcBef>
                <a:spcPts val="0"/>
              </a:spcBef>
              <a:spcAft>
                <a:spcPts val="600"/>
              </a:spcAft>
            </a:pPr>
            <a:r>
              <a:rPr sz="1500" b="1">
                <a:solidFill>
                  <a:srgbClr val="EFF3F7"/>
                </a:solidFill>
                <a:latin typeface="Segoe UI"/>
              </a:rPr>
              <a:t>Escalate</a:t>
            </a:r>
          </a:p>
          <a:p>
            <a:pPr algn="l">
              <a:lnSpc>
                <a:spcPct val="115000"/>
              </a:lnSpc>
              <a:spcBef>
                <a:spcPts val="0"/>
              </a:spcBef>
              <a:spcAft>
                <a:spcPts val="600"/>
              </a:spcAft>
            </a:pPr>
            <a:r>
              <a:rPr sz="1250" b="0">
                <a:solidFill>
                  <a:srgbClr val="9AA7B6"/>
                </a:solidFill>
                <a:latin typeface="Segoe UI"/>
              </a:rPr>
              <a:t>Marks hard cases “Escalation Required” and notifies the assigned officer.</a:t>
            </a:r>
          </a:p>
        </p:txBody>
      </p:sp>
      <p:sp>
        <p:nvSpPr>
          <p:cNvPr id="23" name="Rounded Rectangle 22"/>
          <p:cNvSpPr/>
          <p:nvPr/>
        </p:nvSpPr>
        <p:spPr>
          <a:xfrm>
            <a:off x="9381744" y="4114800"/>
            <a:ext cx="2615184" cy="20574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0" y="4315968"/>
            <a:ext cx="2176272" cy="1691640"/>
          </a:xfrm>
          <a:prstGeom prst="rect">
            <a:avLst/>
          </a:prstGeom>
          <a:noFill/>
        </p:spPr>
        <p:txBody>
          <a:bodyPr wrap="square" anchor="t" lIns="0" rIns="0" tIns="0" bIns="0">
            <a:spAutoFit/>
          </a:bodyPr>
          <a:lstStyle/>
          <a:p>
            <a:pPr algn="l">
              <a:lnSpc>
                <a:spcPct val="115000"/>
              </a:lnSpc>
              <a:spcBef>
                <a:spcPts val="0"/>
              </a:spcBef>
              <a:spcAft>
                <a:spcPts val="600"/>
              </a:spcAft>
            </a:pPr>
            <a:r>
              <a:rPr sz="1100" b="1" spc="100">
                <a:solidFill>
                  <a:srgbClr val="12B76A"/>
                </a:solidFill>
                <a:latin typeface="Segoe UI"/>
              </a:rPr>
              <a:t>STEP 8</a:t>
            </a:r>
          </a:p>
          <a:p>
            <a:pPr algn="l">
              <a:lnSpc>
                <a:spcPct val="115000"/>
              </a:lnSpc>
              <a:spcBef>
                <a:spcPts val="0"/>
              </a:spcBef>
              <a:spcAft>
                <a:spcPts val="600"/>
              </a:spcAft>
            </a:pPr>
            <a:r>
              <a:rPr sz="1500" b="1">
                <a:solidFill>
                  <a:srgbClr val="EFF3F7"/>
                </a:solidFill>
                <a:latin typeface="Segoe UI"/>
              </a:rPr>
              <a:t>Daily summary</a:t>
            </a:r>
          </a:p>
          <a:p>
            <a:pPr algn="l">
              <a:lnSpc>
                <a:spcPct val="115000"/>
              </a:lnSpc>
              <a:spcBef>
                <a:spcPts val="0"/>
              </a:spcBef>
              <a:spcAft>
                <a:spcPts val="600"/>
              </a:spcAft>
            </a:pPr>
            <a:r>
              <a:rPr sz="1250" b="0">
                <a:solidFill>
                  <a:srgbClr val="9AA7B6"/>
                </a:solidFill>
                <a:latin typeface="Segoe UI"/>
              </a:rPr>
              <a:t>Emails officers a recap: outreach, replies, incomplete, escalations, completed.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The officer decides — always</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The agent drafts; the officer approves, edits or rejects before anything leaves MoHRE.</a:t>
            </a:r>
          </a:p>
          <a:p>
            <a:pPr algn="l">
              <a:lnSpc>
                <a:spcPct val="120000"/>
              </a:lnSpc>
              <a:spcBef>
                <a:spcPts val="0"/>
              </a:spcBef>
              <a:spcAft>
                <a:spcPts val="1100"/>
              </a:spcAft>
            </a:pPr>
            <a:r>
              <a:rPr sz="1350" b="0">
                <a:solidFill>
                  <a:srgbClr val="9AA7B6"/>
                </a:solidFill>
                <a:latin typeface="Segoe UI"/>
              </a:rPr>
              <a:t>•  Escalations and final outcomes wait in the officer's inbox.</a:t>
            </a:r>
          </a:p>
          <a:p>
            <a:pPr algn="l">
              <a:lnSpc>
                <a:spcPct val="120000"/>
              </a:lnSpc>
              <a:spcBef>
                <a:spcPts val="0"/>
              </a:spcBef>
              <a:spcAft>
                <a:spcPts val="1100"/>
              </a:spcAft>
            </a:pPr>
            <a:r>
              <a:rPr sz="1350" b="0">
                <a:solidFill>
                  <a:srgbClr val="9AA7B6"/>
                </a:solidFill>
                <a:latin typeface="Segoe UI"/>
              </a:rPr>
              <a:t>•  “Agents draft; officers decide.”</a:t>
            </a:r>
          </a:p>
        </p:txBody>
      </p:sp>
      <p:sp>
        <p:nvSpPr>
          <p:cNvPr id="11" name="Rounded Rectangle 10"/>
          <p:cNvSpPr/>
          <p:nvPr/>
        </p:nvSpPr>
        <p:spPr>
          <a:xfrm>
            <a:off x="4928235" y="1386742"/>
            <a:ext cx="6739890" cy="4495996"/>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inbox.jpg"/>
          <p:cNvPicPr>
            <a:picLocks noChangeAspect="1"/>
          </p:cNvPicPr>
          <p:nvPr/>
        </p:nvPicPr>
        <p:blipFill>
          <a:blip r:embed="rId2"/>
          <a:stretch>
            <a:fillRect/>
          </a:stretch>
        </p:blipFill>
        <p:spPr>
          <a:xfrm>
            <a:off x="4937760" y="1396267"/>
            <a:ext cx="6720840" cy="4476946"/>
          </a:xfrm>
          <a:prstGeom prst="rect">
            <a:avLst/>
          </a:prstGeom>
          <a:ln w="9525">
            <a:solidFill>
              <a:srgbClr val="1E2A3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13232" y="868680"/>
            <a:ext cx="566928" cy="566928"/>
          </a:xfrm>
          <a:prstGeom prst="roundRect">
            <a:avLst>
              <a:gd name="adj" fmla="val 6000"/>
            </a:avLst>
          </a:prstGeom>
          <a:solidFill>
            <a:srgbClr val="121D2B"/>
          </a:solidFill>
          <a:ln w="15875">
            <a:solidFill>
              <a:srgbClr val="0A7D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68680"/>
            <a:ext cx="566928" cy="566928"/>
          </a:xfrm>
          <a:prstGeom prst="rect">
            <a:avLst/>
          </a:prstGeom>
          <a:noFill/>
        </p:spPr>
        <p:txBody>
          <a:bodyPr wrap="square" anchor="ctr" lIns="0" rIns="0" tIns="0" bIns="0">
            <a:spAutoFit/>
          </a:bodyPr>
          <a:lstStyle/>
          <a:p>
            <a:pPr algn="ctr">
              <a:lnSpc>
                <a:spcPct val="105000"/>
              </a:lnSpc>
              <a:spcBef>
                <a:spcPts val="0"/>
              </a:spcBef>
              <a:spcAft>
                <a:spcPts val="0"/>
              </a:spcAft>
            </a:pPr>
            <a:r>
              <a:rPr sz="2200" b="1">
                <a:solidFill>
                  <a:srgbClr val="12B76A"/>
                </a:solidFill>
                <a:latin typeface="Segoe UI"/>
              </a:rPr>
              <a:t>★</a:t>
            </a:r>
          </a:p>
        </p:txBody>
      </p:sp>
      <p:sp>
        <p:nvSpPr>
          <p:cNvPr id="9" name="TextBox 8"/>
          <p:cNvSpPr txBox="1"/>
          <p:nvPr/>
        </p:nvSpPr>
        <p:spPr>
          <a:xfrm>
            <a:off x="1481328" y="896112"/>
            <a:ext cx="3246120" cy="1097280"/>
          </a:xfrm>
          <a:prstGeom prst="rect">
            <a:avLst/>
          </a:prstGeom>
          <a:noFill/>
        </p:spPr>
        <p:txBody>
          <a:bodyPr wrap="square" anchor="t" lIns="0" rIns="0" tIns="0" bIns="0">
            <a:spAutoFit/>
          </a:bodyPr>
          <a:lstStyle/>
          <a:p>
            <a:pPr algn="l">
              <a:lnSpc>
                <a:spcPct val="105000"/>
              </a:lnSpc>
              <a:spcBef>
                <a:spcPts val="0"/>
              </a:spcBef>
              <a:spcAft>
                <a:spcPts val="0"/>
              </a:spcAft>
            </a:pPr>
            <a:r>
              <a:rPr sz="2100" b="1">
                <a:solidFill>
                  <a:srgbClr val="EFF3F7"/>
                </a:solidFill>
                <a:latin typeface="Segoe UI"/>
              </a:rPr>
              <a:t>Everything is measured</a:t>
            </a:r>
          </a:p>
        </p:txBody>
      </p:sp>
      <p:sp>
        <p:nvSpPr>
          <p:cNvPr id="10" name="TextBox 9"/>
          <p:cNvSpPr txBox="1"/>
          <p:nvPr/>
        </p:nvSpPr>
        <p:spPr>
          <a:xfrm>
            <a:off x="749808" y="2148840"/>
            <a:ext cx="3977639" cy="3840480"/>
          </a:xfrm>
          <a:prstGeom prst="rect">
            <a:avLst/>
          </a:prstGeom>
          <a:noFill/>
        </p:spPr>
        <p:txBody>
          <a:bodyPr wrap="square" anchor="t" lIns="0" rIns="0" tIns="0" bIns="0">
            <a:spAutoFit/>
          </a:bodyPr>
          <a:lstStyle/>
          <a:p>
            <a:pPr algn="l">
              <a:lnSpc>
                <a:spcPct val="120000"/>
              </a:lnSpc>
              <a:spcBef>
                <a:spcPts val="0"/>
              </a:spcBef>
              <a:spcAft>
                <a:spcPts val="1100"/>
              </a:spcAft>
            </a:pPr>
            <a:r>
              <a:rPr sz="1350" b="0">
                <a:solidFill>
                  <a:srgbClr val="9AA7B6"/>
                </a:solidFill>
                <a:latin typeface="Segoe UI"/>
              </a:rPr>
              <a:t>•  Runs, success rate, approvals and per-agent performance.</a:t>
            </a:r>
          </a:p>
          <a:p>
            <a:pPr algn="l">
              <a:lnSpc>
                <a:spcPct val="120000"/>
              </a:lnSpc>
              <a:spcBef>
                <a:spcPts val="0"/>
              </a:spcBef>
              <a:spcAft>
                <a:spcPts val="1100"/>
              </a:spcAft>
            </a:pPr>
            <a:r>
              <a:rPr sz="1350" b="0">
                <a:solidFill>
                  <a:srgbClr val="9AA7B6"/>
                </a:solidFill>
                <a:latin typeface="Segoe UI"/>
              </a:rPr>
              <a:t>•  A live view of how the compliance effort is going across the register.</a:t>
            </a:r>
          </a:p>
          <a:p>
            <a:pPr algn="l">
              <a:lnSpc>
                <a:spcPct val="120000"/>
              </a:lnSpc>
              <a:spcBef>
                <a:spcPts val="0"/>
              </a:spcBef>
              <a:spcAft>
                <a:spcPts val="1100"/>
              </a:spcAft>
            </a:pPr>
            <a:r>
              <a:rPr sz="1350" b="0">
                <a:solidFill>
                  <a:srgbClr val="9AA7B6"/>
                </a:solidFill>
                <a:latin typeface="Segoe UI"/>
              </a:rPr>
              <a:t>•  When the officer confirms a case is resolved, its status becomes Completed.</a:t>
            </a:r>
          </a:p>
        </p:txBody>
      </p:sp>
      <p:sp>
        <p:nvSpPr>
          <p:cNvPr id="11" name="Rounded Rectangle 10"/>
          <p:cNvSpPr/>
          <p:nvPr/>
        </p:nvSpPr>
        <p:spPr>
          <a:xfrm>
            <a:off x="4928235" y="1272921"/>
            <a:ext cx="6739890" cy="4723638"/>
          </a:xfrm>
          <a:prstGeom prst="roundRect">
            <a:avLst>
              <a:gd name="adj" fmla="val 6000"/>
            </a:avLst>
          </a:prstGeom>
          <a:solidFill>
            <a:srgbClr val="0C1420"/>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ory_analytics.jpg"/>
          <p:cNvPicPr>
            <a:picLocks noChangeAspect="1"/>
          </p:cNvPicPr>
          <p:nvPr/>
        </p:nvPicPr>
        <p:blipFill>
          <a:blip r:embed="rId2"/>
          <a:stretch>
            <a:fillRect/>
          </a:stretch>
        </p:blipFill>
        <p:spPr>
          <a:xfrm>
            <a:off x="4937760" y="1282446"/>
            <a:ext cx="6720840" cy="4704588"/>
          </a:xfrm>
          <a:prstGeom prst="rect">
            <a:avLst/>
          </a:prstGeom>
          <a:ln w="9525">
            <a:solidFill>
              <a:srgbClr val="1E2A3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66928"/>
            <a:ext cx="8229600" cy="274320"/>
          </a:xfrm>
          <a:prstGeom prst="rect">
            <a:avLst/>
          </a:prstGeom>
          <a:noFill/>
        </p:spPr>
        <p:txBody>
          <a:bodyPr wrap="square" anchor="t" lIns="0" rIns="0" tIns="0" bIns="0">
            <a:spAutoFit/>
          </a:bodyPr>
          <a:lstStyle/>
          <a:p>
            <a:pPr algn="l">
              <a:lnSpc>
                <a:spcPct val="105000"/>
              </a:lnSpc>
              <a:spcBef>
                <a:spcPts val="0"/>
              </a:spcBef>
              <a:spcAft>
                <a:spcPts val="0"/>
              </a:spcAft>
            </a:pPr>
            <a:r>
              <a:rPr sz="1150" b="1" spc="180">
                <a:solidFill>
                  <a:srgbClr val="12B76A"/>
                </a:solidFill>
                <a:latin typeface="Segoe UI"/>
              </a:rPr>
              <a:t>THE LINE THAT NEVER MOVES</a:t>
            </a:r>
          </a:p>
        </p:txBody>
      </p:sp>
      <p:sp>
        <p:nvSpPr>
          <p:cNvPr id="8" name="TextBox 7"/>
          <p:cNvSpPr txBox="1"/>
          <p:nvPr/>
        </p:nvSpPr>
        <p:spPr>
          <a:xfrm>
            <a:off x="658368" y="886968"/>
            <a:ext cx="10789920" cy="640080"/>
          </a:xfrm>
          <a:prstGeom prst="rect">
            <a:avLst/>
          </a:prstGeom>
          <a:noFill/>
        </p:spPr>
        <p:txBody>
          <a:bodyPr wrap="square" anchor="t" lIns="0" rIns="0" tIns="0" bIns="0">
            <a:spAutoFit/>
          </a:bodyPr>
          <a:lstStyle/>
          <a:p>
            <a:pPr algn="l">
              <a:lnSpc>
                <a:spcPct val="105000"/>
              </a:lnSpc>
              <a:spcBef>
                <a:spcPts val="0"/>
              </a:spcBef>
              <a:spcAft>
                <a:spcPts val="0"/>
              </a:spcAft>
            </a:pPr>
            <a:r>
              <a:rPr sz="2700" b="1">
                <a:solidFill>
                  <a:srgbClr val="EFF3F7"/>
                </a:solidFill>
                <a:latin typeface="Segoe UI"/>
              </a:rPr>
              <a:t>What the agent does — and what it will never do.</a:t>
            </a:r>
          </a:p>
        </p:txBody>
      </p:sp>
      <p:sp>
        <p:nvSpPr>
          <p:cNvPr id="9" name="Rounded Rectangle 8"/>
          <p:cNvSpPr/>
          <p:nvPr/>
        </p:nvSpPr>
        <p:spPr>
          <a:xfrm>
            <a:off x="713232" y="1828800"/>
            <a:ext cx="5257800" cy="420624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13232" y="1828800"/>
            <a:ext cx="82296" cy="4206240"/>
          </a:xfrm>
          <a:prstGeom prst="rect">
            <a:avLst/>
          </a:prstGeom>
          <a:solidFill>
            <a:srgbClr val="12B7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2121408"/>
            <a:ext cx="384048" cy="384048"/>
          </a:xfrm>
          <a:prstGeom prst="roundRect">
            <a:avLst>
              <a:gd name="adj" fmla="val 6000"/>
            </a:avLst>
          </a:prstGeom>
          <a:solidFill>
            <a:srgbClr val="12B7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103120"/>
            <a:ext cx="384048" cy="384048"/>
          </a:xfrm>
          <a:prstGeom prst="rect">
            <a:avLst/>
          </a:prstGeom>
          <a:noFill/>
        </p:spPr>
        <p:txBody>
          <a:bodyPr wrap="square" anchor="ctr" lIns="0" rIns="0" tIns="0" bIns="0">
            <a:spAutoFit/>
          </a:bodyPr>
          <a:lstStyle/>
          <a:p>
            <a:pPr algn="ctr">
              <a:lnSpc>
                <a:spcPct val="105000"/>
              </a:lnSpc>
              <a:spcBef>
                <a:spcPts val="0"/>
              </a:spcBef>
              <a:spcAft>
                <a:spcPts val="0"/>
              </a:spcAft>
            </a:pPr>
            <a:r>
              <a:rPr sz="1500" b="1">
                <a:solidFill>
                  <a:srgbClr val="FFFFFF"/>
                </a:solidFill>
                <a:latin typeface="Segoe UI"/>
              </a:rPr>
              <a:t>✓</a:t>
            </a:r>
          </a:p>
        </p:txBody>
      </p:sp>
      <p:sp>
        <p:nvSpPr>
          <p:cNvPr id="13" name="TextBox 12"/>
          <p:cNvSpPr txBox="1"/>
          <p:nvPr/>
        </p:nvSpPr>
        <p:spPr>
          <a:xfrm>
            <a:off x="1554480" y="2139696"/>
            <a:ext cx="4160520" cy="457200"/>
          </a:xfrm>
          <a:prstGeom prst="rect">
            <a:avLst/>
          </a:prstGeom>
          <a:noFill/>
        </p:spPr>
        <p:txBody>
          <a:bodyPr wrap="square" anchor="ctr" lIns="0" rIns="0" tIns="0" bIns="0">
            <a:spAutoFit/>
          </a:bodyPr>
          <a:lstStyle/>
          <a:p>
            <a:pPr algn="l">
              <a:lnSpc>
                <a:spcPct val="105000"/>
              </a:lnSpc>
              <a:spcBef>
                <a:spcPts val="0"/>
              </a:spcBef>
              <a:spcAft>
                <a:spcPts val="0"/>
              </a:spcAft>
            </a:pPr>
            <a:r>
              <a:rPr sz="1650" b="1">
                <a:solidFill>
                  <a:srgbClr val="EFF3F7"/>
                </a:solidFill>
                <a:latin typeface="Segoe UI"/>
              </a:rPr>
              <a:t>The agent handles the legwork</a:t>
            </a:r>
          </a:p>
        </p:txBody>
      </p:sp>
      <p:sp>
        <p:nvSpPr>
          <p:cNvPr id="14" name="TextBox 13"/>
          <p:cNvSpPr txBox="1"/>
          <p:nvPr/>
        </p:nvSpPr>
        <p:spPr>
          <a:xfrm>
            <a:off x="1024128" y="2880360"/>
            <a:ext cx="4654296" cy="2926080"/>
          </a:xfrm>
          <a:prstGeom prst="rect">
            <a:avLst/>
          </a:prstGeom>
          <a:noFill/>
        </p:spPr>
        <p:txBody>
          <a:bodyPr wrap="square" anchor="t" lIns="0" rIns="0" tIns="0" bIns="0">
            <a:spAutoFit/>
          </a:bodyPr>
          <a:lstStyle/>
          <a:p>
            <a:pPr algn="l">
              <a:lnSpc>
                <a:spcPct val="115000"/>
              </a:lnSpc>
              <a:spcBef>
                <a:spcPts val="0"/>
              </a:spcBef>
              <a:spcAft>
                <a:spcPts val="1100"/>
              </a:spcAft>
            </a:pPr>
            <a:r>
              <a:rPr sz="1400" b="0">
                <a:solidFill>
                  <a:srgbClr val="9AA7B6"/>
                </a:solidFill>
                <a:latin typeface="Segoe UI"/>
              </a:rPr>
              <a:t>✓  Reads the registry and identifies who needs action</a:t>
            </a:r>
          </a:p>
          <a:p>
            <a:pPr algn="l">
              <a:lnSpc>
                <a:spcPct val="115000"/>
              </a:lnSpc>
              <a:spcBef>
                <a:spcPts val="0"/>
              </a:spcBef>
              <a:spcAft>
                <a:spcPts val="1100"/>
              </a:spcAft>
            </a:pPr>
            <a:r>
              <a:rPr sz="1400" b="0">
                <a:solidFill>
                  <a:srgbClr val="9AA7B6"/>
                </a:solidFill>
                <a:latin typeface="Segoe UI"/>
              </a:rPr>
              <a:t>✓  Drafts and sends approved outreach, reminders and escalations</a:t>
            </a:r>
          </a:p>
          <a:p>
            <a:pPr algn="l">
              <a:lnSpc>
                <a:spcPct val="115000"/>
              </a:lnSpc>
              <a:spcBef>
                <a:spcPts val="0"/>
              </a:spcBef>
              <a:spcAft>
                <a:spcPts val="1100"/>
              </a:spcAft>
            </a:pPr>
            <a:r>
              <a:rPr sz="1400" b="0">
                <a:solidFill>
                  <a:srgbClr val="9AA7B6"/>
                </a:solidFill>
                <a:latin typeface="Segoe UI"/>
              </a:rPr>
              <a:t>✓  Reviews responses against SOPs and identifies gaps</a:t>
            </a:r>
          </a:p>
          <a:p>
            <a:pPr algn="l">
              <a:lnSpc>
                <a:spcPct val="115000"/>
              </a:lnSpc>
              <a:spcBef>
                <a:spcPts val="0"/>
              </a:spcBef>
              <a:spcAft>
                <a:spcPts val="1100"/>
              </a:spcAft>
            </a:pPr>
            <a:r>
              <a:rPr sz="1400" b="0">
                <a:solidFill>
                  <a:srgbClr val="9AA7B6"/>
                </a:solidFill>
                <a:latin typeface="Segoe UI"/>
              </a:rPr>
              <a:t>✓  Keeps the Excel registry accurate and up to date</a:t>
            </a:r>
          </a:p>
          <a:p>
            <a:pPr algn="l">
              <a:lnSpc>
                <a:spcPct val="115000"/>
              </a:lnSpc>
              <a:spcBef>
                <a:spcPts val="0"/>
              </a:spcBef>
              <a:spcAft>
                <a:spcPts val="1100"/>
              </a:spcAft>
            </a:pPr>
            <a:r>
              <a:rPr sz="1400" b="0">
                <a:solidFill>
                  <a:srgbClr val="9AA7B6"/>
                </a:solidFill>
                <a:latin typeface="Segoe UI"/>
              </a:rPr>
              <a:t>✓  Recommends the next action and a daily summary</a:t>
            </a:r>
          </a:p>
        </p:txBody>
      </p:sp>
      <p:sp>
        <p:nvSpPr>
          <p:cNvPr id="15" name="Rounded Rectangle 14"/>
          <p:cNvSpPr/>
          <p:nvPr/>
        </p:nvSpPr>
        <p:spPr>
          <a:xfrm>
            <a:off x="6217920" y="1828800"/>
            <a:ext cx="5257800" cy="420624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828800"/>
            <a:ext cx="82296" cy="4206240"/>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10528" y="2121408"/>
            <a:ext cx="384048" cy="384048"/>
          </a:xfrm>
          <a:prstGeom prst="roundRect">
            <a:avLst>
              <a:gd name="adj" fmla="val 6000"/>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2103120"/>
            <a:ext cx="384048" cy="384048"/>
          </a:xfrm>
          <a:prstGeom prst="rect">
            <a:avLst/>
          </a:prstGeom>
          <a:noFill/>
        </p:spPr>
        <p:txBody>
          <a:bodyPr wrap="square" anchor="ctr" lIns="0" rIns="0" tIns="0" bIns="0">
            <a:spAutoFit/>
          </a:bodyPr>
          <a:lstStyle/>
          <a:p>
            <a:pPr algn="ctr">
              <a:lnSpc>
                <a:spcPct val="105000"/>
              </a:lnSpc>
              <a:spcBef>
                <a:spcPts val="0"/>
              </a:spcBef>
              <a:spcAft>
                <a:spcPts val="0"/>
              </a:spcAft>
            </a:pPr>
            <a:r>
              <a:rPr sz="1500" b="1">
                <a:solidFill>
                  <a:srgbClr val="FFFFFF"/>
                </a:solidFill>
                <a:latin typeface="Segoe UI"/>
              </a:rPr>
              <a:t>✕</a:t>
            </a:r>
          </a:p>
        </p:txBody>
      </p:sp>
      <p:sp>
        <p:nvSpPr>
          <p:cNvPr id="19" name="TextBox 18"/>
          <p:cNvSpPr txBox="1"/>
          <p:nvPr/>
        </p:nvSpPr>
        <p:spPr>
          <a:xfrm>
            <a:off x="7059168" y="2139696"/>
            <a:ext cx="4160520" cy="457200"/>
          </a:xfrm>
          <a:prstGeom prst="rect">
            <a:avLst/>
          </a:prstGeom>
          <a:noFill/>
        </p:spPr>
        <p:txBody>
          <a:bodyPr wrap="square" anchor="ctr" lIns="0" rIns="0" tIns="0" bIns="0">
            <a:spAutoFit/>
          </a:bodyPr>
          <a:lstStyle/>
          <a:p>
            <a:pPr algn="l">
              <a:lnSpc>
                <a:spcPct val="105000"/>
              </a:lnSpc>
              <a:spcBef>
                <a:spcPts val="0"/>
              </a:spcBef>
              <a:spcAft>
                <a:spcPts val="0"/>
              </a:spcAft>
            </a:pPr>
            <a:r>
              <a:rPr sz="1650" b="1">
                <a:solidFill>
                  <a:srgbClr val="EFF3F7"/>
                </a:solidFill>
                <a:latin typeface="Segoe UI"/>
              </a:rPr>
              <a:t>People keep every judgement</a:t>
            </a:r>
          </a:p>
        </p:txBody>
      </p:sp>
      <p:sp>
        <p:nvSpPr>
          <p:cNvPr id="20" name="TextBox 19"/>
          <p:cNvSpPr txBox="1"/>
          <p:nvPr/>
        </p:nvSpPr>
        <p:spPr>
          <a:xfrm>
            <a:off x="6528816" y="2880360"/>
            <a:ext cx="4654296" cy="2926080"/>
          </a:xfrm>
          <a:prstGeom prst="rect">
            <a:avLst/>
          </a:prstGeom>
          <a:noFill/>
        </p:spPr>
        <p:txBody>
          <a:bodyPr wrap="square" anchor="t" lIns="0" rIns="0" tIns="0" bIns="0">
            <a:spAutoFit/>
          </a:bodyPr>
          <a:lstStyle/>
          <a:p>
            <a:pPr algn="l">
              <a:lnSpc>
                <a:spcPct val="115000"/>
              </a:lnSpc>
              <a:spcBef>
                <a:spcPts val="0"/>
              </a:spcBef>
              <a:spcAft>
                <a:spcPts val="1100"/>
              </a:spcAft>
            </a:pPr>
            <a:r>
              <a:rPr sz="1400" b="0">
                <a:solidFill>
                  <a:srgbClr val="9AA7B6"/>
                </a:solidFill>
                <a:latin typeface="Segoe UI"/>
              </a:rPr>
              <a:t>✕  No final legal or enforcement decisions</a:t>
            </a:r>
          </a:p>
          <a:p>
            <a:pPr algn="l">
              <a:lnSpc>
                <a:spcPct val="115000"/>
              </a:lnSpc>
              <a:spcBef>
                <a:spcPts val="0"/>
              </a:spcBef>
              <a:spcAft>
                <a:spcPts val="1100"/>
              </a:spcAft>
            </a:pPr>
            <a:r>
              <a:rPr sz="1400" b="0">
                <a:solidFill>
                  <a:srgbClr val="9AA7B6"/>
                </a:solidFill>
                <a:latin typeface="Segoe UI"/>
              </a:rPr>
              <a:t>✕  No penalties, exemptions or regulatory rulings</a:t>
            </a:r>
          </a:p>
          <a:p>
            <a:pPr algn="l">
              <a:lnSpc>
                <a:spcPct val="115000"/>
              </a:lnSpc>
              <a:spcBef>
                <a:spcPts val="0"/>
              </a:spcBef>
              <a:spcAft>
                <a:spcPts val="1100"/>
              </a:spcAft>
            </a:pPr>
            <a:r>
              <a:rPr sz="1400" b="0">
                <a:solidFill>
                  <a:srgbClr val="9AA7B6"/>
                </a:solidFill>
                <a:latin typeface="Segoe UI"/>
              </a:rPr>
              <a:t>✕  Nothing marked Completed without officer confirmation</a:t>
            </a:r>
          </a:p>
          <a:p>
            <a:pPr algn="l">
              <a:lnSpc>
                <a:spcPct val="115000"/>
              </a:lnSpc>
              <a:spcBef>
                <a:spcPts val="0"/>
              </a:spcBef>
              <a:spcAft>
                <a:spcPts val="1100"/>
              </a:spcAft>
            </a:pPr>
            <a:r>
              <a:rPr sz="1400" b="0">
                <a:solidFill>
                  <a:srgbClr val="9AA7B6"/>
                </a:solidFill>
                <a:latin typeface="Segoe UI"/>
              </a:rPr>
              <a:t>✕  No emails outside the registry without approval</a:t>
            </a:r>
          </a:p>
          <a:p>
            <a:pPr algn="l">
              <a:lnSpc>
                <a:spcPct val="115000"/>
              </a:lnSpc>
              <a:spcBef>
                <a:spcPts val="0"/>
              </a:spcBef>
              <a:spcAft>
                <a:spcPts val="1100"/>
              </a:spcAft>
            </a:pPr>
            <a:r>
              <a:rPr sz="1400" b="0">
                <a:solidFill>
                  <a:srgbClr val="9AA7B6"/>
                </a:solidFill>
                <a:latin typeface="Segoe UI"/>
              </a:rPr>
              <a:t>✕  No data leaves the MoHRE Microsoft 365 tenant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C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950671" cy="64008"/>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950671" y="0"/>
            <a:ext cx="4145176" cy="64008"/>
          </a:xfrm>
          <a:prstGeom prst="rect">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5847" y="0"/>
            <a:ext cx="3657508" cy="64008"/>
          </a:xfrm>
          <a:prstGeom prst="rect">
            <a:avLst/>
          </a:prstGeom>
          <a:solidFill>
            <a:srgbClr val="E7E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53355" y="0"/>
            <a:ext cx="2438339" cy="64008"/>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286000"/>
            <a:ext cx="10881360" cy="274320"/>
          </a:xfrm>
          <a:prstGeom prst="rect">
            <a:avLst/>
          </a:prstGeom>
          <a:noFill/>
        </p:spPr>
        <p:txBody>
          <a:bodyPr wrap="square" anchor="t" lIns="0" rIns="0" tIns="0" bIns="0">
            <a:spAutoFit/>
          </a:bodyPr>
          <a:lstStyle/>
          <a:p>
            <a:pPr algn="ctr">
              <a:lnSpc>
                <a:spcPct val="105000"/>
              </a:lnSpc>
              <a:spcBef>
                <a:spcPts val="0"/>
              </a:spcBef>
              <a:spcAft>
                <a:spcPts val="0"/>
              </a:spcAft>
            </a:pPr>
            <a:r>
              <a:rPr sz="1200" b="1" spc="160">
                <a:solidFill>
                  <a:srgbClr val="12B76A"/>
                </a:solidFill>
                <a:latin typeface="Segoe UI"/>
              </a:rPr>
              <a:t>IN ONE LINE</a:t>
            </a:r>
          </a:p>
        </p:txBody>
      </p:sp>
      <p:sp>
        <p:nvSpPr>
          <p:cNvPr id="8" name="TextBox 7"/>
          <p:cNvSpPr txBox="1"/>
          <p:nvPr/>
        </p:nvSpPr>
        <p:spPr>
          <a:xfrm>
            <a:off x="1280160" y="2788920"/>
            <a:ext cx="9601200" cy="1645920"/>
          </a:xfrm>
          <a:prstGeom prst="rect">
            <a:avLst/>
          </a:prstGeom>
          <a:noFill/>
        </p:spPr>
        <p:txBody>
          <a:bodyPr wrap="square" anchor="t" lIns="0" rIns="0" tIns="0" bIns="0">
            <a:spAutoFit/>
          </a:bodyPr>
          <a:lstStyle/>
          <a:p>
            <a:pPr algn="ctr">
              <a:lnSpc>
                <a:spcPct val="115000"/>
              </a:lnSpc>
              <a:spcBef>
                <a:spcPts val="0"/>
              </a:spcBef>
              <a:spcAft>
                <a:spcPts val="0"/>
              </a:spcAft>
            </a:pPr>
            <a:r>
              <a:rPr sz="2600" b="1">
                <a:solidFill>
                  <a:srgbClr val="EFF3F7"/>
                </a:solidFill>
                <a:latin typeface="Segoe UI"/>
              </a:rPr>
              <a:t>A MoHRE officer built a governed Microsoft 365 compliance agent by </a:t>
            </a:r>
            <a:r>
              <a:rPr sz="2600" b="1">
                <a:solidFill>
                  <a:srgbClr val="12B76A"/>
                </a:solidFill>
                <a:latin typeface="Segoe UI"/>
              </a:rPr>
              <a:t>describing it</a:t>
            </a:r>
            <a:r>
              <a:rPr sz="2600" b="1">
                <a:solidFill>
                  <a:srgbClr val="EFF3F7"/>
                </a:solidFill>
                <a:latin typeface="Segoe UI"/>
              </a:rPr>
              <a:t> — and stays in control of every decision it makes.</a:t>
            </a:r>
          </a:p>
        </p:txBody>
      </p:sp>
      <p:sp>
        <p:nvSpPr>
          <p:cNvPr id="9" name="Rounded Rectangle 8"/>
          <p:cNvSpPr/>
          <p:nvPr/>
        </p:nvSpPr>
        <p:spPr>
          <a:xfrm>
            <a:off x="1811884" y="4663440"/>
            <a:ext cx="3189427" cy="4572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11884" y="4663440"/>
            <a:ext cx="3189427" cy="457200"/>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Wakeel — the experience &amp; governance</a:t>
            </a:r>
          </a:p>
        </p:txBody>
      </p:sp>
      <p:sp>
        <p:nvSpPr>
          <p:cNvPr id="11" name="Rounded Rectangle 10"/>
          <p:cNvSpPr/>
          <p:nvPr/>
        </p:nvSpPr>
        <p:spPr>
          <a:xfrm>
            <a:off x="5184191" y="4663440"/>
            <a:ext cx="2506370" cy="4572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84191" y="4663440"/>
            <a:ext cx="2506370" cy="457200"/>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Microsoft 365 — the systems</a:t>
            </a:r>
          </a:p>
        </p:txBody>
      </p:sp>
      <p:sp>
        <p:nvSpPr>
          <p:cNvPr id="13" name="Rounded Rectangle 12"/>
          <p:cNvSpPr/>
          <p:nvPr/>
        </p:nvSpPr>
        <p:spPr>
          <a:xfrm>
            <a:off x="7873441" y="4663440"/>
            <a:ext cx="2506370" cy="457200"/>
          </a:xfrm>
          <a:prstGeom prst="roundRect">
            <a:avLst>
              <a:gd name="adj" fmla="val 6000"/>
            </a:avLst>
          </a:prstGeom>
          <a:solidFill>
            <a:srgbClr val="0E1722"/>
          </a:solidFill>
          <a:ln w="12700">
            <a:solidFill>
              <a:srgbClr val="1E2A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3441" y="4663440"/>
            <a:ext cx="2506370" cy="457200"/>
          </a:xfrm>
          <a:prstGeom prst="rect">
            <a:avLst/>
          </a:prstGeom>
          <a:noFill/>
        </p:spPr>
        <p:txBody>
          <a:bodyPr wrap="square" anchor="ctr" lIns="0" rIns="0" tIns="0" bIns="0">
            <a:spAutoFit/>
          </a:bodyPr>
          <a:lstStyle/>
          <a:p>
            <a:pPr algn="ctr">
              <a:lnSpc>
                <a:spcPct val="105000"/>
              </a:lnSpc>
              <a:spcBef>
                <a:spcPts val="0"/>
              </a:spcBef>
              <a:spcAft>
                <a:spcPts val="0"/>
              </a:spcAft>
            </a:pPr>
            <a:r>
              <a:rPr sz="1250" b="0">
                <a:solidFill>
                  <a:srgbClr val="9AA7B6"/>
                </a:solidFill>
                <a:latin typeface="Segoe UI"/>
              </a:rPr>
              <a:t>The officer — the decisions</a:t>
            </a:r>
          </a:p>
        </p:txBody>
      </p:sp>
      <p:sp>
        <p:nvSpPr>
          <p:cNvPr id="15" name="Rounded Rectangle 14"/>
          <p:cNvSpPr/>
          <p:nvPr/>
        </p:nvSpPr>
        <p:spPr>
          <a:xfrm>
            <a:off x="5821527" y="5669280"/>
            <a:ext cx="548640" cy="548640"/>
          </a:xfrm>
          <a:prstGeom prst="roundRect">
            <a:avLst>
              <a:gd name="adj" fmla="val 28000"/>
            </a:avLst>
          </a:prstGeom>
          <a:solidFill>
            <a:srgbClr val="0A7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21527" y="5669280"/>
            <a:ext cx="64008" cy="548640"/>
          </a:xfrm>
          <a:prstGeom prst="rect">
            <a:avLst/>
          </a:prstGeom>
          <a:solidFill>
            <a:srgbClr val="CE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21527" y="5669280"/>
            <a:ext cx="548640" cy="548640"/>
          </a:xfrm>
          <a:prstGeom prst="rect">
            <a:avLst/>
          </a:prstGeom>
          <a:noFill/>
        </p:spPr>
        <p:txBody>
          <a:bodyPr wrap="square" anchor="ctr" lIns="0" rIns="0" tIns="0" bIns="0">
            <a:spAutoFit/>
          </a:bodyPr>
          <a:lstStyle/>
          <a:p>
            <a:pPr algn="ctr">
              <a:lnSpc>
                <a:spcPct val="105000"/>
              </a:lnSpc>
              <a:spcBef>
                <a:spcPts val="0"/>
              </a:spcBef>
              <a:spcAft>
                <a:spcPts val="0"/>
              </a:spcAft>
            </a:pPr>
            <a:r>
              <a:rPr sz="1800" b="1">
                <a:solidFill>
                  <a:srgbClr val="FFFFFF"/>
                </a:solidFill>
                <a:latin typeface="Segoe UI"/>
              </a:rPr>
              <a:t>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